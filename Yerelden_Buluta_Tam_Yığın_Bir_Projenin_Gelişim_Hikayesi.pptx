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288" y="14288"/>
            <a:ext cx="4557713" cy="5114925"/>
          </a:xfrm>
          <a:prstGeom prst="rect">
            <a:avLst/>
          </a:prstGeom>
          <a:solidFill>
            <a:srgbClr val="F4F4F5">
              <a:alpha val="9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557713" y="14288"/>
            <a:ext cx="14288" cy="5114925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5" name="Shape 2"/>
          <p:cNvSpPr/>
          <p:nvPr/>
        </p:nvSpPr>
        <p:spPr>
          <a:xfrm>
            <a:off x="14288" y="5114925"/>
            <a:ext cx="4557713" cy="14288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6" name="Shape 3"/>
          <p:cNvSpPr/>
          <p:nvPr/>
        </p:nvSpPr>
        <p:spPr>
          <a:xfrm>
            <a:off x="185738" y="442913"/>
            <a:ext cx="1228725" cy="221456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7" name="Text 4"/>
          <p:cNvSpPr/>
          <p:nvPr/>
        </p:nvSpPr>
        <p:spPr>
          <a:xfrm>
            <a:off x="185738" y="442913"/>
            <a:ext cx="1228725" cy="221456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4F4F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SUNUM BAŞLANGICI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185738" y="750094"/>
            <a:ext cx="4125516" cy="5486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0284C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Yerelden Buluta</a:t>
            </a:r>
            <a:endParaRPr lang="en-US" sz="3294" dirty="0"/>
          </a:p>
        </p:txBody>
      </p:sp>
      <p:sp>
        <p:nvSpPr>
          <p:cNvPr id="9" name="Text 6"/>
          <p:cNvSpPr/>
          <p:nvPr/>
        </p:nvSpPr>
        <p:spPr>
          <a:xfrm>
            <a:off x="185738" y="1441586"/>
            <a:ext cx="4214813" cy="1355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8181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Tam Yığın Bir Projenin Gelişim Hikayesi</a:t>
            </a:r>
            <a:endParaRPr lang="en-US" sz="2436" dirty="0"/>
          </a:p>
        </p:txBody>
      </p:sp>
      <p:sp>
        <p:nvSpPr>
          <p:cNvPr id="10" name="Shape 7"/>
          <p:cNvSpPr/>
          <p:nvPr/>
        </p:nvSpPr>
        <p:spPr>
          <a:xfrm>
            <a:off x="4572000" y="14288"/>
            <a:ext cx="4557713" cy="5114925"/>
          </a:xfrm>
          <a:prstGeom prst="rect">
            <a:avLst/>
          </a:prstGeom>
          <a:solidFill>
            <a:srgbClr val="0284C7">
              <a:alpha val="5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4743450" y="442913"/>
            <a:ext cx="421481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 sunum, sıfırdan başlayarak yerel geliştirme ortamından bulut altyapısına uzanan gerçek bir proje geliştirme sürecini adım adım aktarmaktadır. Her faz, alınan teknik kararları ve bu kararların arkasındaki mantığı ortaya koymaktadır.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743450" y="1500188"/>
            <a:ext cx="4214813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2" b="1" dirty="0">
                <a:solidFill>
                  <a:srgbClr val="16A34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Kullanılan Teknolojiler ve Platformlar</a:t>
            </a:r>
            <a:endParaRPr lang="en-US" sz="1602" dirty="0"/>
          </a:p>
        </p:txBody>
      </p:sp>
      <p:sp>
        <p:nvSpPr>
          <p:cNvPr id="13" name="Shape 10"/>
          <p:cNvSpPr/>
          <p:nvPr/>
        </p:nvSpPr>
        <p:spPr>
          <a:xfrm>
            <a:off x="4743450" y="2197373"/>
            <a:ext cx="992981" cy="341114"/>
          </a:xfrm>
          <a:prstGeom prst="rect">
            <a:avLst/>
          </a:prstGeom>
          <a:solidFill>
            <a:srgbClr val="F4F4F5"/>
          </a:solidFill>
          <a:ln w="18288">
            <a:solidFill>
              <a:srgbClr val="18181B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9175" y="2270596"/>
            <a:ext cx="171450" cy="17145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000625" y="2240235"/>
            <a:ext cx="62150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8181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React</a:t>
            </a:r>
            <a:endParaRPr lang="en-US" sz="1193" dirty="0"/>
          </a:p>
        </p:txBody>
      </p:sp>
      <p:sp>
        <p:nvSpPr>
          <p:cNvPr id="16" name="Shape 12"/>
          <p:cNvSpPr/>
          <p:nvPr/>
        </p:nvSpPr>
        <p:spPr>
          <a:xfrm>
            <a:off x="5793581" y="2197373"/>
            <a:ext cx="971550" cy="341114"/>
          </a:xfrm>
          <a:prstGeom prst="rect">
            <a:avLst/>
          </a:prstGeom>
          <a:solidFill>
            <a:srgbClr val="F4F4F5"/>
          </a:solidFill>
          <a:ln w="18288">
            <a:solidFill>
              <a:srgbClr val="18181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306" y="2270596"/>
            <a:ext cx="150019" cy="17145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029325" y="2240235"/>
            <a:ext cx="62150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8181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Flask</a:t>
            </a:r>
            <a:endParaRPr lang="en-US" sz="1193" dirty="0"/>
          </a:p>
        </p:txBody>
      </p:sp>
      <p:sp>
        <p:nvSpPr>
          <p:cNvPr id="19" name="Shape 14"/>
          <p:cNvSpPr/>
          <p:nvPr/>
        </p:nvSpPr>
        <p:spPr>
          <a:xfrm>
            <a:off x="6822281" y="2197373"/>
            <a:ext cx="1200150" cy="341114"/>
          </a:xfrm>
          <a:prstGeom prst="rect">
            <a:avLst/>
          </a:prstGeom>
          <a:solidFill>
            <a:srgbClr val="F4F4F5"/>
          </a:solidFill>
          <a:ln w="18288">
            <a:solidFill>
              <a:srgbClr val="18181B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8006" y="2270596"/>
            <a:ext cx="171450" cy="17145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079456" y="2240235"/>
            <a:ext cx="8286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8181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MongoDB</a:t>
            </a:r>
            <a:endParaRPr lang="en-US" sz="1193" dirty="0"/>
          </a:p>
        </p:txBody>
      </p:sp>
      <p:sp>
        <p:nvSpPr>
          <p:cNvPr id="22" name="Shape 16"/>
          <p:cNvSpPr/>
          <p:nvPr/>
        </p:nvSpPr>
        <p:spPr>
          <a:xfrm>
            <a:off x="4743450" y="2595637"/>
            <a:ext cx="1243013" cy="341114"/>
          </a:xfrm>
          <a:prstGeom prst="rect">
            <a:avLst/>
          </a:prstGeom>
          <a:solidFill>
            <a:srgbClr val="F4F4F5"/>
          </a:solidFill>
          <a:ln w="18288">
            <a:solidFill>
              <a:srgbClr val="18181B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9175" y="2668860"/>
            <a:ext cx="214313" cy="17145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043488" y="2638499"/>
            <a:ext cx="8286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8181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AWS EC2</a:t>
            </a:r>
            <a:endParaRPr lang="en-US" sz="1193" dirty="0"/>
          </a:p>
        </p:txBody>
      </p:sp>
      <p:sp>
        <p:nvSpPr>
          <p:cNvPr id="25" name="Shape 18"/>
          <p:cNvSpPr/>
          <p:nvPr/>
        </p:nvSpPr>
        <p:spPr>
          <a:xfrm>
            <a:off x="6043613" y="2595637"/>
            <a:ext cx="1139428" cy="341114"/>
          </a:xfrm>
          <a:prstGeom prst="rect">
            <a:avLst/>
          </a:prstGeom>
          <a:solidFill>
            <a:srgbClr val="F4F4F5"/>
          </a:solidFill>
          <a:ln w="18288">
            <a:solidFill>
              <a:srgbClr val="18181B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9338" y="2668860"/>
            <a:ext cx="214313" cy="17145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343650" y="2638499"/>
            <a:ext cx="72509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8181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AWS S3</a:t>
            </a:r>
            <a:endParaRPr lang="en-US" sz="1193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00125"/>
          </a:xfrm>
          <a:prstGeom prst="rect">
            <a:avLst/>
          </a:prstGeom>
          <a:solidFill>
            <a:srgbClr val="F4F4F5">
              <a:alpha val="9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985838"/>
            <a:ext cx="9144000" cy="14288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85750"/>
            <a:ext cx="8286750" cy="3018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8181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Dört Fazda Tam Yığın Mimari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428625" y="659011"/>
            <a:ext cx="828675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0284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Projeye Genel Bakış</a:t>
            </a:r>
            <a:endParaRPr lang="en-US" sz="1704" dirty="0"/>
          </a:p>
        </p:txBody>
      </p:sp>
      <p:sp>
        <p:nvSpPr>
          <p:cNvPr id="7" name="Shape 4"/>
          <p:cNvSpPr/>
          <p:nvPr/>
        </p:nvSpPr>
        <p:spPr>
          <a:xfrm>
            <a:off x="0" y="1000125"/>
            <a:ext cx="9144000" cy="3286125"/>
          </a:xfrm>
          <a:prstGeom prst="rect">
            <a:avLst/>
          </a:prstGeom>
          <a:solidFill>
            <a:srgbClr val="F4F4F5">
              <a:alpha val="85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214313" y="1285875"/>
            <a:ext cx="1843088" cy="4518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6A34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01</a:t>
            </a:r>
            <a:endParaRPr lang="en-US" sz="2436" dirty="0"/>
          </a:p>
        </p:txBody>
      </p:sp>
      <p:sp>
        <p:nvSpPr>
          <p:cNvPr id="9" name="Text 6"/>
          <p:cNvSpPr/>
          <p:nvPr/>
        </p:nvSpPr>
        <p:spPr>
          <a:xfrm>
            <a:off x="214313" y="1880592"/>
            <a:ext cx="1843088" cy="2228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18181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Yerel Geliştirme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214313" y="2210628"/>
            <a:ext cx="1843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Projenin temellerinin atıldığı, frontend ve backend'in localhost üzerinde geliştirildiği başlangıç aşaması.</a:t>
            </a:r>
            <a:endParaRPr lang="en-US" sz="834" dirty="0"/>
          </a:p>
        </p:txBody>
      </p:sp>
      <p:sp>
        <p:nvSpPr>
          <p:cNvPr id="11" name="Shape 8"/>
          <p:cNvSpPr/>
          <p:nvPr/>
        </p:nvSpPr>
        <p:spPr>
          <a:xfrm>
            <a:off x="214313" y="3039303"/>
            <a:ext cx="985838" cy="264319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12" name="Text 9"/>
          <p:cNvSpPr/>
          <p:nvPr/>
        </p:nvSpPr>
        <p:spPr>
          <a:xfrm>
            <a:off x="214313" y="3039303"/>
            <a:ext cx="985838" cy="26431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4F4F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React, Flask</a:t>
            </a:r>
            <a:endParaRPr lang="en-US" sz="834" dirty="0"/>
          </a:p>
        </p:txBody>
      </p:sp>
      <p:sp>
        <p:nvSpPr>
          <p:cNvPr id="13" name="Text 10"/>
          <p:cNvSpPr/>
          <p:nvPr/>
        </p:nvSpPr>
        <p:spPr>
          <a:xfrm>
            <a:off x="2500313" y="1285875"/>
            <a:ext cx="1843088" cy="4518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6A34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02</a:t>
            </a:r>
            <a:endParaRPr lang="en-US" sz="2436" dirty="0"/>
          </a:p>
        </p:txBody>
      </p:sp>
      <p:sp>
        <p:nvSpPr>
          <p:cNvPr id="14" name="Text 11"/>
          <p:cNvSpPr/>
          <p:nvPr/>
        </p:nvSpPr>
        <p:spPr>
          <a:xfrm>
            <a:off x="2500313" y="1880592"/>
            <a:ext cx="1843088" cy="445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18181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Veritabanı Entegrasyonu</a:t>
            </a:r>
            <a:endParaRPr lang="en-US" sz="1193" dirty="0"/>
          </a:p>
        </p:txBody>
      </p:sp>
      <p:sp>
        <p:nvSpPr>
          <p:cNvPr id="15" name="Text 12"/>
          <p:cNvSpPr/>
          <p:nvPr/>
        </p:nvSpPr>
        <p:spPr>
          <a:xfrm>
            <a:off x="2500313" y="2433507"/>
            <a:ext cx="184308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Verilerin güvenle saklanması için bulut tabanlı NoSQL çözümüne geçiş.</a:t>
            </a:r>
            <a:endParaRPr lang="en-US" sz="834" dirty="0"/>
          </a:p>
        </p:txBody>
      </p:sp>
      <p:sp>
        <p:nvSpPr>
          <p:cNvPr id="16" name="Shape 13"/>
          <p:cNvSpPr/>
          <p:nvPr/>
        </p:nvSpPr>
        <p:spPr>
          <a:xfrm>
            <a:off x="2500313" y="3090732"/>
            <a:ext cx="1053703" cy="264319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17" name="Text 14"/>
          <p:cNvSpPr/>
          <p:nvPr/>
        </p:nvSpPr>
        <p:spPr>
          <a:xfrm>
            <a:off x="2500313" y="3090732"/>
            <a:ext cx="1053703" cy="26431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4F4F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MongoDB Atlas</a:t>
            </a:r>
            <a:endParaRPr lang="en-US" sz="834" dirty="0"/>
          </a:p>
        </p:txBody>
      </p:sp>
      <p:sp>
        <p:nvSpPr>
          <p:cNvPr id="18" name="Text 15"/>
          <p:cNvSpPr/>
          <p:nvPr/>
        </p:nvSpPr>
        <p:spPr>
          <a:xfrm>
            <a:off x="4786313" y="1285875"/>
            <a:ext cx="1843088" cy="4518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6A34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03</a:t>
            </a:r>
            <a:endParaRPr lang="en-US" sz="2436" dirty="0"/>
          </a:p>
        </p:txBody>
      </p:sp>
      <p:sp>
        <p:nvSpPr>
          <p:cNvPr id="19" name="Text 16"/>
          <p:cNvSpPr/>
          <p:nvPr/>
        </p:nvSpPr>
        <p:spPr>
          <a:xfrm>
            <a:off x="4786313" y="1880592"/>
            <a:ext cx="1843088" cy="445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18181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Backend Buluta Taşıma</a:t>
            </a:r>
            <a:endParaRPr lang="en-US" sz="1193" dirty="0"/>
          </a:p>
        </p:txBody>
      </p:sp>
      <p:sp>
        <p:nvSpPr>
          <p:cNvPr id="20" name="Text 17"/>
          <p:cNvSpPr/>
          <p:nvPr/>
        </p:nvSpPr>
        <p:spPr>
          <a:xfrm>
            <a:off x="4786313" y="2433507"/>
            <a:ext cx="184308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Flask API'nin 7/24 erişilebilir olması için sanal sunucuya aktarılması ve dışa açılması.</a:t>
            </a:r>
            <a:endParaRPr lang="en-US" sz="834" dirty="0"/>
          </a:p>
        </p:txBody>
      </p:sp>
      <p:sp>
        <p:nvSpPr>
          <p:cNvPr id="21" name="Shape 18"/>
          <p:cNvSpPr/>
          <p:nvPr/>
        </p:nvSpPr>
        <p:spPr>
          <a:xfrm>
            <a:off x="4786313" y="3090732"/>
            <a:ext cx="646509" cy="264319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22" name="Text 19"/>
          <p:cNvSpPr/>
          <p:nvPr/>
        </p:nvSpPr>
        <p:spPr>
          <a:xfrm>
            <a:off x="4786313" y="3090732"/>
            <a:ext cx="646509" cy="26431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4F4F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AWS EC2</a:t>
            </a:r>
            <a:endParaRPr lang="en-US" sz="834" dirty="0"/>
          </a:p>
        </p:txBody>
      </p:sp>
      <p:sp>
        <p:nvSpPr>
          <p:cNvPr id="23" name="Text 20"/>
          <p:cNvSpPr/>
          <p:nvPr/>
        </p:nvSpPr>
        <p:spPr>
          <a:xfrm>
            <a:off x="7072313" y="1285875"/>
            <a:ext cx="1857375" cy="4518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6A34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04</a:t>
            </a:r>
            <a:endParaRPr lang="en-US" sz="2436" dirty="0"/>
          </a:p>
        </p:txBody>
      </p:sp>
      <p:sp>
        <p:nvSpPr>
          <p:cNvPr id="24" name="Text 21"/>
          <p:cNvSpPr/>
          <p:nvPr/>
        </p:nvSpPr>
        <p:spPr>
          <a:xfrm>
            <a:off x="7072313" y="1880592"/>
            <a:ext cx="1857375" cy="445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18181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Frontend Yayınlama</a:t>
            </a:r>
            <a:endParaRPr lang="en-US" sz="1193" dirty="0"/>
          </a:p>
        </p:txBody>
      </p:sp>
      <p:sp>
        <p:nvSpPr>
          <p:cNvPr id="25" name="Text 22"/>
          <p:cNvSpPr/>
          <p:nvPr/>
        </p:nvSpPr>
        <p:spPr>
          <a:xfrm>
            <a:off x="7072313" y="2433507"/>
            <a:ext cx="185737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uygulamasının derlenerek statik web sitesi olarak dünya genelinde erişime açılması.</a:t>
            </a:r>
            <a:endParaRPr lang="en-US" sz="834" dirty="0"/>
          </a:p>
        </p:txBody>
      </p:sp>
      <p:sp>
        <p:nvSpPr>
          <p:cNvPr id="26" name="Shape 23"/>
          <p:cNvSpPr/>
          <p:nvPr/>
        </p:nvSpPr>
        <p:spPr>
          <a:xfrm>
            <a:off x="7072313" y="3090732"/>
            <a:ext cx="578644" cy="264319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27" name="Text 24"/>
          <p:cNvSpPr/>
          <p:nvPr/>
        </p:nvSpPr>
        <p:spPr>
          <a:xfrm>
            <a:off x="7072313" y="3090732"/>
            <a:ext cx="578644" cy="26431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4F4F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AWS S3</a:t>
            </a:r>
            <a:endParaRPr lang="en-US" sz="834" dirty="0"/>
          </a:p>
        </p:txBody>
      </p:sp>
      <p:sp>
        <p:nvSpPr>
          <p:cNvPr id="28" name="Shape 25"/>
          <p:cNvSpPr/>
          <p:nvPr/>
        </p:nvSpPr>
        <p:spPr>
          <a:xfrm>
            <a:off x="0" y="4286250"/>
            <a:ext cx="9144000" cy="857250"/>
          </a:xfrm>
          <a:prstGeom prst="rect">
            <a:avLst/>
          </a:prstGeom>
          <a:solidFill>
            <a:srgbClr val="0284C7">
              <a:alpha val="10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0" y="4286250"/>
            <a:ext cx="9144000" cy="14288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0" name="Text 27"/>
          <p:cNvSpPr/>
          <p:nvPr/>
        </p:nvSpPr>
        <p:spPr>
          <a:xfrm>
            <a:off x="428625" y="4500563"/>
            <a:ext cx="82867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faz, bir öncekinin üzerine inşa edilmiş olup nihai hedef; ölçeklenebilir, erişilebilir ve sürdürülebilir bir bulut mimarisi oluşturmaktır.</a:t>
            </a:r>
            <a:endParaRPr lang="en-US" sz="98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226939"/>
          </a:xfrm>
          <a:prstGeom prst="rect">
            <a:avLst/>
          </a:prstGeom>
          <a:solidFill>
            <a:srgbClr val="F4F4F5">
              <a:alpha val="9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1212652"/>
            <a:ext cx="9144000" cy="14288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85750"/>
            <a:ext cx="8286750" cy="3018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8181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Faz 1: Yerel Geliştirme — Temeller Atılıyor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428625" y="659011"/>
            <a:ext cx="8286750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0284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Projenin ilk adımı, geliştirici bilgisayarında (localhost) sağlam bir temel oluşturmaktır.</a:t>
            </a:r>
            <a:endParaRPr lang="en-US" sz="1704" dirty="0"/>
          </a:p>
        </p:txBody>
      </p:sp>
      <p:sp>
        <p:nvSpPr>
          <p:cNvPr id="7" name="Shape 4"/>
          <p:cNvSpPr/>
          <p:nvPr/>
        </p:nvSpPr>
        <p:spPr>
          <a:xfrm>
            <a:off x="0" y="1212652"/>
            <a:ext cx="9144000" cy="3216473"/>
          </a:xfrm>
          <a:prstGeom prst="rect">
            <a:avLst/>
          </a:prstGeom>
          <a:solidFill>
            <a:srgbClr val="F4F4F5">
              <a:alpha val="85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0" y="1212652"/>
            <a:ext cx="4572000" cy="3216473"/>
          </a:xfrm>
          <a:prstGeom prst="rect">
            <a:avLst/>
          </a:prstGeom>
          <a:solidFill>
            <a:srgbClr val="0284C7">
              <a:alpha val="5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4557713" y="1212652"/>
            <a:ext cx="14288" cy="3216473"/>
          </a:xfrm>
          <a:prstGeom prst="rect">
            <a:avLst/>
          </a:prstGeom>
          <a:solidFill>
            <a:srgbClr val="18181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1529655"/>
            <a:ext cx="200025" cy="2000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5806" y="1498402"/>
            <a:ext cx="1914525" cy="2625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8181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Frontend — React</a:t>
            </a:r>
            <a:endParaRPr lang="en-US" sz="1397" dirty="0"/>
          </a:p>
        </p:txBody>
      </p:sp>
      <p:sp>
        <p:nvSpPr>
          <p:cNvPr id="12" name="Text 8"/>
          <p:cNvSpPr/>
          <p:nvPr/>
        </p:nvSpPr>
        <p:spPr>
          <a:xfrm>
            <a:off x="428625" y="1903809"/>
            <a:ext cx="3714750" cy="228600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uygulama iskeleti hızlıca kuruldu.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28625" y="2239566"/>
            <a:ext cx="3714750" cy="42003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14" name="Shape 10"/>
          <p:cNvSpPr/>
          <p:nvPr/>
        </p:nvSpPr>
        <p:spPr>
          <a:xfrm>
            <a:off x="428625" y="2239566"/>
            <a:ext cx="28575" cy="42003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5" name="Text 11"/>
          <p:cNvSpPr/>
          <p:nvPr/>
        </p:nvSpPr>
        <p:spPr>
          <a:xfrm>
            <a:off x="428625" y="2239566"/>
            <a:ext cx="3714750" cy="420030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F4F4F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npx create-react-app frontend</a:t>
            </a:r>
            <a:endParaRPr lang="en-US" sz="942" dirty="0"/>
          </a:p>
        </p:txBody>
      </p:sp>
      <p:sp>
        <p:nvSpPr>
          <p:cNvPr id="16" name="Text 12"/>
          <p:cNvSpPr/>
          <p:nvPr/>
        </p:nvSpPr>
        <p:spPr>
          <a:xfrm>
            <a:off x="428625" y="2766752"/>
            <a:ext cx="3714750" cy="457200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Bileşen (component) tabanlı yapı sayesinde modüler ve yönetilebilir bir arayüz geliştirildi.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28625" y="3331108"/>
            <a:ext cx="3714750" cy="457200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Geliştirme sunucusu varsayılan olarak </a:t>
            </a:r>
            <a:r>
              <a:rPr lang="en-US" sz="987" b="1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 3000</a:t>
            </a:r>
            <a:r>
              <a:rPr lang="en-US" sz="10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üzerinde başlatıldı.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572000" y="1212652"/>
            <a:ext cx="4572000" cy="3216473"/>
          </a:xfrm>
          <a:prstGeom prst="rect">
            <a:avLst/>
          </a:prstGeom>
          <a:solidFill>
            <a:srgbClr val="16A34A">
              <a:alpha val="5000"/>
            </a:srgbClr>
          </a:solidFill>
          <a:ln/>
        </p:spPr>
      </p:sp>
      <p:sp>
        <p:nvSpPr>
          <p:cNvPr id="19" name="Text 15"/>
          <p:cNvSpPr/>
          <p:nvPr/>
        </p:nvSpPr>
        <p:spPr>
          <a:xfrm>
            <a:off x="428625" y="1939528"/>
            <a:ext cx="60387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727" dirty="0"/>
          </a:p>
        </p:txBody>
      </p:sp>
      <p:sp>
        <p:nvSpPr>
          <p:cNvPr id="20" name="Text 16"/>
          <p:cNvSpPr/>
          <p:nvPr/>
        </p:nvSpPr>
        <p:spPr>
          <a:xfrm>
            <a:off x="428625" y="2802471"/>
            <a:ext cx="60387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727" dirty="0"/>
          </a:p>
        </p:txBody>
      </p:sp>
      <p:sp>
        <p:nvSpPr>
          <p:cNvPr id="21" name="Text 17"/>
          <p:cNvSpPr/>
          <p:nvPr/>
        </p:nvSpPr>
        <p:spPr>
          <a:xfrm>
            <a:off x="428625" y="3366827"/>
            <a:ext cx="60387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727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625" y="1529655"/>
            <a:ext cx="175022" cy="200025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282803" y="1498402"/>
            <a:ext cx="2871788" cy="2625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8181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Backend — Flask (Python)</a:t>
            </a:r>
            <a:endParaRPr lang="en-US" sz="1397" dirty="0"/>
          </a:p>
        </p:txBody>
      </p:sp>
      <p:sp>
        <p:nvSpPr>
          <p:cNvPr id="24" name="Text 19"/>
          <p:cNvSpPr/>
          <p:nvPr/>
        </p:nvSpPr>
        <p:spPr>
          <a:xfrm>
            <a:off x="5000625" y="1903809"/>
            <a:ext cx="3714750" cy="457200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Hafif ve esnek yapısıyla REST API geliştirmek için Flask tercih edildi.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5000625" y="2468166"/>
            <a:ext cx="3714750" cy="457200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Gerekli kütüphaneler tek komutla sanal ortama (venv) yüklendi: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5000625" y="3032522"/>
            <a:ext cx="3714750" cy="42003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27" name="Shape 22"/>
          <p:cNvSpPr/>
          <p:nvPr/>
        </p:nvSpPr>
        <p:spPr>
          <a:xfrm>
            <a:off x="5000625" y="3032522"/>
            <a:ext cx="28575" cy="42003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8" name="Text 23"/>
          <p:cNvSpPr/>
          <p:nvPr/>
        </p:nvSpPr>
        <p:spPr>
          <a:xfrm>
            <a:off x="5000625" y="3032522"/>
            <a:ext cx="3714750" cy="420030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F4F4F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pip install flask flask-cors pymongo</a:t>
            </a:r>
            <a:endParaRPr lang="en-US" sz="942" dirty="0"/>
          </a:p>
        </p:txBody>
      </p:sp>
      <p:sp>
        <p:nvSpPr>
          <p:cNvPr id="29" name="Text 24"/>
          <p:cNvSpPr/>
          <p:nvPr/>
        </p:nvSpPr>
        <p:spPr>
          <a:xfrm>
            <a:off x="5000625" y="1939528"/>
            <a:ext cx="60387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727" dirty="0"/>
          </a:p>
        </p:txBody>
      </p:sp>
      <p:sp>
        <p:nvSpPr>
          <p:cNvPr id="30" name="Text 25"/>
          <p:cNvSpPr/>
          <p:nvPr/>
        </p:nvSpPr>
        <p:spPr>
          <a:xfrm>
            <a:off x="5000625" y="2503884"/>
            <a:ext cx="60387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727" dirty="0"/>
          </a:p>
        </p:txBody>
      </p:sp>
      <p:sp>
        <p:nvSpPr>
          <p:cNvPr id="31" name="Text 26"/>
          <p:cNvSpPr/>
          <p:nvPr/>
        </p:nvSpPr>
        <p:spPr>
          <a:xfrm>
            <a:off x="5000625" y="3595427"/>
            <a:ext cx="60387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727" dirty="0"/>
          </a:p>
        </p:txBody>
      </p:sp>
      <p:sp>
        <p:nvSpPr>
          <p:cNvPr id="32" name="Text 27"/>
          <p:cNvSpPr/>
          <p:nvPr/>
        </p:nvSpPr>
        <p:spPr>
          <a:xfrm>
            <a:off x="5179219" y="3575782"/>
            <a:ext cx="8572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F3F4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flask-cors</a:t>
            </a:r>
            <a:endParaRPr lang="en-US" sz="1050" dirty="0"/>
          </a:p>
        </p:txBody>
      </p:sp>
      <p:sp>
        <p:nvSpPr>
          <p:cNvPr id="33" name="Text 28"/>
          <p:cNvSpPr/>
          <p:nvPr/>
        </p:nvSpPr>
        <p:spPr>
          <a:xfrm>
            <a:off x="5179219" y="3588283"/>
            <a:ext cx="3362920" cy="630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paketi ile frontend ve backend arasındaki CORS (Cross-Origin Resource Sharing) engeli aşıldı.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0" y="4429125"/>
            <a:ext cx="9144000" cy="714375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5" name="Shape 30"/>
          <p:cNvSpPr/>
          <p:nvPr/>
        </p:nvSpPr>
        <p:spPr>
          <a:xfrm>
            <a:off x="0" y="4429125"/>
            <a:ext cx="9144000" cy="14288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6" name="Text 31"/>
          <p:cNvSpPr/>
          <p:nvPr/>
        </p:nvSpPr>
        <p:spPr>
          <a:xfrm>
            <a:off x="428625" y="4780062"/>
            <a:ext cx="756165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4F4F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Sonuç:</a:t>
            </a:r>
            <a:r>
              <a:rPr lang="en-US" sz="1269" dirty="0">
                <a:solidFill>
                  <a:srgbClr val="F4F4F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İki sistem </a:t>
            </a:r>
            <a:r>
              <a:rPr lang="en-US" sz="1269" dirty="0">
                <a:solidFill>
                  <a:srgbClr val="16A34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localhost</a:t>
            </a:r>
            <a:r>
              <a:rPr lang="en-US" sz="1269" dirty="0">
                <a:solidFill>
                  <a:srgbClr val="F4F4F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üzerinde birbiriyle başarıyla iletişim kurdu.</a:t>
            </a:r>
            <a:endParaRPr lang="en-US" sz="1269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00125"/>
          </a:xfrm>
          <a:prstGeom prst="rect">
            <a:avLst/>
          </a:prstGeom>
          <a:solidFill>
            <a:srgbClr val="F4F4F5">
              <a:alpha val="9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985838"/>
            <a:ext cx="9144000" cy="14288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85750"/>
            <a:ext cx="8286750" cy="3018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8181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React + Flask: İki Katmanın Birlikte Çalışması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428625" y="659011"/>
            <a:ext cx="828675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0284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Yerel geliştirme aşamasında frontend ve backend iletişimi</a:t>
            </a:r>
            <a:endParaRPr lang="en-US" sz="1704" dirty="0"/>
          </a:p>
        </p:txBody>
      </p:sp>
      <p:sp>
        <p:nvSpPr>
          <p:cNvPr id="7" name="Shape 4"/>
          <p:cNvSpPr/>
          <p:nvPr/>
        </p:nvSpPr>
        <p:spPr>
          <a:xfrm>
            <a:off x="0" y="1000125"/>
            <a:ext cx="9144000" cy="4143375"/>
          </a:xfrm>
          <a:prstGeom prst="rect">
            <a:avLst/>
          </a:prstGeom>
          <a:solidFill>
            <a:srgbClr val="F4F4F5">
              <a:alpha val="85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0" y="1000125"/>
            <a:ext cx="9144000" cy="1819870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9" name="Shape 6"/>
          <p:cNvSpPr/>
          <p:nvPr/>
        </p:nvSpPr>
        <p:spPr>
          <a:xfrm>
            <a:off x="0" y="2805708"/>
            <a:ext cx="9144000" cy="14288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10" name="Shape 7"/>
          <p:cNvSpPr/>
          <p:nvPr/>
        </p:nvSpPr>
        <p:spPr>
          <a:xfrm>
            <a:off x="214313" y="1214438"/>
            <a:ext cx="2500313" cy="137695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214313" y="1214438"/>
            <a:ext cx="2500313" cy="5715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2" name="Shape 9"/>
          <p:cNvSpPr/>
          <p:nvPr/>
        </p:nvSpPr>
        <p:spPr>
          <a:xfrm>
            <a:off x="2700338" y="1214438"/>
            <a:ext cx="14288" cy="1376958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13" name="Shape 10"/>
          <p:cNvSpPr/>
          <p:nvPr/>
        </p:nvSpPr>
        <p:spPr>
          <a:xfrm>
            <a:off x="214313" y="2577108"/>
            <a:ext cx="2500313" cy="14288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14" name="Shape 11"/>
          <p:cNvSpPr/>
          <p:nvPr/>
        </p:nvSpPr>
        <p:spPr>
          <a:xfrm>
            <a:off x="214313" y="1214438"/>
            <a:ext cx="14288" cy="1376958"/>
          </a:xfrm>
          <a:prstGeom prst="rect">
            <a:avLst/>
          </a:prstGeom>
          <a:solidFill>
            <a:srgbClr val="18181B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88" y="1393031"/>
            <a:ext cx="2214563" cy="3429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7188" y="1807369"/>
            <a:ext cx="2214563" cy="3018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8181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Frontend</a:t>
            </a:r>
            <a:endParaRPr lang="en-US" sz="1602" dirty="0"/>
          </a:p>
        </p:txBody>
      </p:sp>
      <p:sp>
        <p:nvSpPr>
          <p:cNvPr id="17" name="Shape 13"/>
          <p:cNvSpPr/>
          <p:nvPr/>
        </p:nvSpPr>
        <p:spPr>
          <a:xfrm>
            <a:off x="978694" y="2166342"/>
            <a:ext cx="971550" cy="246459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18" name="Text 14"/>
          <p:cNvSpPr/>
          <p:nvPr/>
        </p:nvSpPr>
        <p:spPr>
          <a:xfrm>
            <a:off x="978694" y="2166342"/>
            <a:ext cx="971550" cy="246459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4F4F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Port: 3000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3573661" y="1647527"/>
            <a:ext cx="1996678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F3F4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HTTP İstekleri (GET, POST)</a:t>
            </a:r>
            <a:endParaRPr lang="en-US" sz="885" dirty="0"/>
          </a:p>
        </p:txBody>
      </p:sp>
      <p:sp>
        <p:nvSpPr>
          <p:cNvPr id="20" name="Shape 16"/>
          <p:cNvSpPr/>
          <p:nvPr/>
        </p:nvSpPr>
        <p:spPr>
          <a:xfrm>
            <a:off x="2786063" y="1860054"/>
            <a:ext cx="3571875" cy="14288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21" name="Text 17"/>
          <p:cNvSpPr/>
          <p:nvPr/>
        </p:nvSpPr>
        <p:spPr>
          <a:xfrm>
            <a:off x="6282928" y="1788616"/>
            <a:ext cx="11072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2786063" y="1931491"/>
            <a:ext cx="3571875" cy="14288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23" name="Text 19"/>
          <p:cNvSpPr/>
          <p:nvPr/>
        </p:nvSpPr>
        <p:spPr>
          <a:xfrm>
            <a:off x="2750344" y="1860054"/>
            <a:ext cx="11072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◀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4034433" y="1988641"/>
            <a:ext cx="1075134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F3F4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JSON Yanıtları</a:t>
            </a:r>
            <a:endParaRPr lang="en-US" sz="885" dirty="0"/>
          </a:p>
        </p:txBody>
      </p:sp>
      <p:sp>
        <p:nvSpPr>
          <p:cNvPr id="25" name="Shape 21"/>
          <p:cNvSpPr/>
          <p:nvPr/>
        </p:nvSpPr>
        <p:spPr>
          <a:xfrm>
            <a:off x="6429375" y="1214438"/>
            <a:ext cx="2500313" cy="137695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2"/>
          <p:cNvSpPr/>
          <p:nvPr/>
        </p:nvSpPr>
        <p:spPr>
          <a:xfrm>
            <a:off x="6429375" y="1214438"/>
            <a:ext cx="2500313" cy="5715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7" name="Shape 23"/>
          <p:cNvSpPr/>
          <p:nvPr/>
        </p:nvSpPr>
        <p:spPr>
          <a:xfrm>
            <a:off x="8915400" y="1214438"/>
            <a:ext cx="14288" cy="1376958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28" name="Shape 24"/>
          <p:cNvSpPr/>
          <p:nvPr/>
        </p:nvSpPr>
        <p:spPr>
          <a:xfrm>
            <a:off x="6429375" y="2577108"/>
            <a:ext cx="2500313" cy="14288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29" name="Shape 25"/>
          <p:cNvSpPr/>
          <p:nvPr/>
        </p:nvSpPr>
        <p:spPr>
          <a:xfrm>
            <a:off x="6429375" y="1214438"/>
            <a:ext cx="14288" cy="1376958"/>
          </a:xfrm>
          <a:prstGeom prst="rect">
            <a:avLst/>
          </a:prstGeom>
          <a:solidFill>
            <a:srgbClr val="18181B"/>
          </a:solidFill>
          <a:ln/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0" y="1357313"/>
            <a:ext cx="2214563" cy="34290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572250" y="1771650"/>
            <a:ext cx="2214563" cy="3018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8181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Backend API</a:t>
            </a:r>
            <a:endParaRPr lang="en-US" sz="1602" dirty="0"/>
          </a:p>
        </p:txBody>
      </p:sp>
      <p:sp>
        <p:nvSpPr>
          <p:cNvPr id="32" name="Shape 27"/>
          <p:cNvSpPr/>
          <p:nvPr/>
        </p:nvSpPr>
        <p:spPr>
          <a:xfrm>
            <a:off x="7193756" y="2130623"/>
            <a:ext cx="971550" cy="246459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3" name="Text 28"/>
          <p:cNvSpPr/>
          <p:nvPr/>
        </p:nvSpPr>
        <p:spPr>
          <a:xfrm>
            <a:off x="7193756" y="2130623"/>
            <a:ext cx="971550" cy="246459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4F4F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Port: 5000</a:t>
            </a:r>
            <a:endParaRPr lang="en-US" sz="1050" dirty="0"/>
          </a:p>
        </p:txBody>
      </p:sp>
      <p:sp>
        <p:nvSpPr>
          <p:cNvPr id="34" name="Text 29"/>
          <p:cNvSpPr/>
          <p:nvPr/>
        </p:nvSpPr>
        <p:spPr>
          <a:xfrm>
            <a:off x="285750" y="2877145"/>
            <a:ext cx="8572500" cy="2625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8181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Mimarinin Temel Avantajları</a:t>
            </a:r>
            <a:endParaRPr lang="en-US" sz="1397" dirty="0"/>
          </a:p>
        </p:txBody>
      </p:sp>
      <p:sp>
        <p:nvSpPr>
          <p:cNvPr id="35" name="Shape 30"/>
          <p:cNvSpPr/>
          <p:nvPr/>
        </p:nvSpPr>
        <p:spPr>
          <a:xfrm>
            <a:off x="285750" y="3282553"/>
            <a:ext cx="2762231" cy="1169789"/>
          </a:xfrm>
          <a:prstGeom prst="rect">
            <a:avLst/>
          </a:prstGeom>
          <a:solidFill>
            <a:srgbClr val="FFFFFF"/>
          </a:solidFill>
          <a:ln w="18288">
            <a:solidFill>
              <a:srgbClr val="18181B"/>
            </a:solidFill>
            <a:prstDash val="solid"/>
          </a:ln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906" y="3411141"/>
            <a:ext cx="171450" cy="228600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392906" y="3737967"/>
            <a:ext cx="2547919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Hızlı prototipleme ve anlık test imkânı sağlar.</a:t>
            </a:r>
            <a:endParaRPr lang="en-US" sz="885" dirty="0"/>
          </a:p>
        </p:txBody>
      </p:sp>
      <p:sp>
        <p:nvSpPr>
          <p:cNvPr id="38" name="Shape 32"/>
          <p:cNvSpPr/>
          <p:nvPr/>
        </p:nvSpPr>
        <p:spPr>
          <a:xfrm>
            <a:off x="3190856" y="3282553"/>
            <a:ext cx="2762259" cy="1169789"/>
          </a:xfrm>
          <a:prstGeom prst="rect">
            <a:avLst/>
          </a:prstGeom>
          <a:solidFill>
            <a:srgbClr val="FFFFFF"/>
          </a:solidFill>
          <a:ln w="18288">
            <a:solidFill>
              <a:srgbClr val="18181B"/>
            </a:solidFill>
            <a:prstDash val="solid"/>
          </a:ln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8013" y="3411141"/>
            <a:ext cx="228600" cy="228600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3298013" y="3737967"/>
            <a:ext cx="2547947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iki katmanın birbirinden bağımsız olarak hata ayıklanabilmesine olanak tanır.</a:t>
            </a:r>
            <a:endParaRPr lang="en-US" sz="885" dirty="0"/>
          </a:p>
        </p:txBody>
      </p:sp>
      <p:sp>
        <p:nvSpPr>
          <p:cNvPr id="41" name="Shape 34"/>
          <p:cNvSpPr/>
          <p:nvPr/>
        </p:nvSpPr>
        <p:spPr>
          <a:xfrm>
            <a:off x="6095991" y="3282553"/>
            <a:ext cx="2762231" cy="1169789"/>
          </a:xfrm>
          <a:prstGeom prst="rect">
            <a:avLst/>
          </a:prstGeom>
          <a:solidFill>
            <a:srgbClr val="FFFFFF"/>
          </a:solidFill>
          <a:ln w="18288">
            <a:solidFill>
              <a:srgbClr val="18181B"/>
            </a:solidFill>
            <a:prstDash val="solid"/>
          </a:ln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3147" y="3411141"/>
            <a:ext cx="228600" cy="228600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6203147" y="3737967"/>
            <a:ext cx="2547919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Gerçek bulut ortamına geçişi kolaylaştıran temiz bir ayrışım (separation of concerns) sunar.</a:t>
            </a:r>
            <a:endParaRPr lang="en-US" sz="88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226939"/>
          </a:xfrm>
          <a:prstGeom prst="rect">
            <a:avLst/>
          </a:prstGeom>
          <a:solidFill>
            <a:srgbClr val="F4F4F5">
              <a:alpha val="9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1212652"/>
            <a:ext cx="9144000" cy="14288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85750"/>
            <a:ext cx="8286750" cy="3018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8181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Faz 2: Veriler Güvende — MongoDB Atlas Entegrasyonu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428625" y="659011"/>
            <a:ext cx="8286750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0284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Yerel geliştirme aşamasında verilerin kalıcı ve güvenli biçimde saklanması için bulut tabanlı bir NoSQL çözümü tercih edildi.</a:t>
            </a:r>
            <a:endParaRPr lang="en-US" sz="1704" dirty="0"/>
          </a:p>
        </p:txBody>
      </p:sp>
      <p:sp>
        <p:nvSpPr>
          <p:cNvPr id="7" name="Shape 4"/>
          <p:cNvSpPr/>
          <p:nvPr/>
        </p:nvSpPr>
        <p:spPr>
          <a:xfrm>
            <a:off x="0" y="1212652"/>
            <a:ext cx="9144000" cy="3320058"/>
          </a:xfrm>
          <a:prstGeom prst="rect">
            <a:avLst/>
          </a:prstGeom>
          <a:solidFill>
            <a:srgbClr val="F4F4F5">
              <a:alpha val="85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0" y="1212652"/>
            <a:ext cx="4507706" cy="3320058"/>
          </a:xfrm>
          <a:prstGeom prst="rect">
            <a:avLst/>
          </a:prstGeom>
          <a:solidFill>
            <a:srgbClr val="16A34A">
              <a:alpha val="5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4493419" y="1212652"/>
            <a:ext cx="14288" cy="3320058"/>
          </a:xfrm>
          <a:prstGeom prst="rect">
            <a:avLst/>
          </a:prstGeom>
          <a:solidFill>
            <a:srgbClr val="18181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1386780"/>
            <a:ext cx="200025" cy="2000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5806" y="1355527"/>
            <a:ext cx="2393156" cy="2625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6A34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Neden MongoDB Atlas?</a:t>
            </a:r>
            <a:endParaRPr lang="en-US" sz="1397" dirty="0"/>
          </a:p>
        </p:txBody>
      </p:sp>
      <p:sp>
        <p:nvSpPr>
          <p:cNvPr id="12" name="Text 8"/>
          <p:cNvSpPr/>
          <p:nvPr/>
        </p:nvSpPr>
        <p:spPr>
          <a:xfrm>
            <a:off x="428625" y="1703784"/>
            <a:ext cx="3650456" cy="400050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Şemasız Yapı:</a:t>
            </a:r>
            <a:r>
              <a:rPr lang="en-US" sz="10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Esnek veri modelleriyle hızlı prototipleme.</a:t>
            </a:r>
            <a:endParaRPr lang="en-US" sz="987" dirty="0"/>
          </a:p>
        </p:txBody>
      </p:sp>
      <p:sp>
        <p:nvSpPr>
          <p:cNvPr id="13" name="Text 9"/>
          <p:cNvSpPr/>
          <p:nvPr/>
        </p:nvSpPr>
        <p:spPr>
          <a:xfrm>
            <a:off x="428625" y="2218134"/>
            <a:ext cx="3650456" cy="400050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Yönetilen Hizmet:</a:t>
            </a:r>
            <a:r>
              <a:rPr lang="en-US" sz="10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Sunucu yönetimi ve yedekleme Atlas tarafından sağlanır.</a:t>
            </a:r>
            <a:endParaRPr lang="en-US" sz="987" dirty="0"/>
          </a:p>
        </p:txBody>
      </p:sp>
      <p:sp>
        <p:nvSpPr>
          <p:cNvPr id="14" name="Text 10"/>
          <p:cNvSpPr/>
          <p:nvPr/>
        </p:nvSpPr>
        <p:spPr>
          <a:xfrm>
            <a:off x="428625" y="2732484"/>
            <a:ext cx="3650456" cy="200025"/>
          </a:xfrm>
          <a:prstGeom prst="rect">
            <a:avLst/>
          </a:prstGeom>
          <a:noFill/>
          <a:ln/>
        </p:spPr>
        <p:txBody>
          <a:bodyPr wrap="none" lIns="255143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 Tier:</a:t>
            </a:r>
            <a:r>
              <a:rPr lang="en-US" sz="10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Başlangıç için ücretsiz kullanım imkanı.</a:t>
            </a:r>
            <a:endParaRPr lang="en-US" sz="987" dirty="0"/>
          </a:p>
        </p:txBody>
      </p:sp>
      <p:sp>
        <p:nvSpPr>
          <p:cNvPr id="15" name="Shape 11"/>
          <p:cNvSpPr/>
          <p:nvPr/>
        </p:nvSpPr>
        <p:spPr>
          <a:xfrm>
            <a:off x="4507706" y="1212652"/>
            <a:ext cx="4636294" cy="3320058"/>
          </a:xfrm>
          <a:prstGeom prst="rect">
            <a:avLst/>
          </a:prstGeom>
          <a:solidFill>
            <a:srgbClr val="0284C7">
              <a:alpha val="5000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428625" y="1746647"/>
            <a:ext cx="60387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727" dirty="0"/>
          </a:p>
        </p:txBody>
      </p:sp>
      <p:sp>
        <p:nvSpPr>
          <p:cNvPr id="17" name="Text 13"/>
          <p:cNvSpPr/>
          <p:nvPr/>
        </p:nvSpPr>
        <p:spPr>
          <a:xfrm>
            <a:off x="428625" y="2260997"/>
            <a:ext cx="60387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727" dirty="0"/>
          </a:p>
        </p:txBody>
      </p:sp>
      <p:sp>
        <p:nvSpPr>
          <p:cNvPr id="18" name="Text 14"/>
          <p:cNvSpPr/>
          <p:nvPr/>
        </p:nvSpPr>
        <p:spPr>
          <a:xfrm>
            <a:off x="428625" y="2775347"/>
            <a:ext cx="60387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727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6331" y="1386780"/>
            <a:ext cx="150019" cy="20002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193506" y="1355527"/>
            <a:ext cx="2393156" cy="2625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284C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Entegrasyon Adımları</a:t>
            </a:r>
            <a:endParaRPr lang="en-US" sz="1397" dirty="0"/>
          </a:p>
        </p:txBody>
      </p:sp>
      <p:sp>
        <p:nvSpPr>
          <p:cNvPr id="21" name="Text 16"/>
          <p:cNvSpPr/>
          <p:nvPr/>
        </p:nvSpPr>
        <p:spPr>
          <a:xfrm>
            <a:off x="4936331" y="1703784"/>
            <a:ext cx="3779044" cy="400050"/>
          </a:xfrm>
          <a:prstGeom prst="rect">
            <a:avLst/>
          </a:prstGeom>
          <a:noFill/>
          <a:ln/>
        </p:spPr>
        <p:txBody>
          <a:bodyPr wrap="square" lIns="382651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MongoDB Atlas üzerinde yeni bir </a:t>
            </a:r>
            <a:r>
              <a:rPr lang="en-US" sz="987" b="1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Cluster</a:t>
            </a:r>
            <a:r>
              <a:rPr lang="en-US" sz="10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oluşturuldu ve kullanıcı tanımlandı.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4936331" y="1703784"/>
            <a:ext cx="214313" cy="214313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23" name="Text 18"/>
          <p:cNvSpPr/>
          <p:nvPr/>
        </p:nvSpPr>
        <p:spPr>
          <a:xfrm>
            <a:off x="4936331" y="1703784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F4F4F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counter(step-counter)</a:t>
            </a:r>
            <a:endParaRPr lang="en-US" sz="784" dirty="0"/>
          </a:p>
        </p:txBody>
      </p:sp>
      <p:sp>
        <p:nvSpPr>
          <p:cNvPr id="24" name="Shape 19"/>
          <p:cNvSpPr/>
          <p:nvPr/>
        </p:nvSpPr>
        <p:spPr>
          <a:xfrm>
            <a:off x="4936331" y="2218134"/>
            <a:ext cx="214313" cy="214313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25" name="Text 20"/>
          <p:cNvSpPr/>
          <p:nvPr/>
        </p:nvSpPr>
        <p:spPr>
          <a:xfrm>
            <a:off x="4936331" y="2218134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F4F4F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counter(step-counter)</a:t>
            </a:r>
            <a:endParaRPr lang="en-US" sz="784" dirty="0"/>
          </a:p>
        </p:txBody>
      </p:sp>
      <p:sp>
        <p:nvSpPr>
          <p:cNvPr id="26" name="Text 21"/>
          <p:cNvSpPr/>
          <p:nvPr/>
        </p:nvSpPr>
        <p:spPr>
          <a:xfrm>
            <a:off x="5257800" y="2230636"/>
            <a:ext cx="1062633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Atlas'tan alınan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6320433" y="2230636"/>
            <a:ext cx="1212652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Connection String</a:t>
            </a:r>
            <a:endParaRPr lang="en-US" sz="987" dirty="0"/>
          </a:p>
        </p:txBody>
      </p:sp>
      <p:sp>
        <p:nvSpPr>
          <p:cNvPr id="28" name="Text 23"/>
          <p:cNvSpPr/>
          <p:nvPr/>
        </p:nvSpPr>
        <p:spPr>
          <a:xfrm>
            <a:off x="5257800" y="2230636"/>
            <a:ext cx="2968228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uygulama yapılandırmasına eklendi.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5257800" y="2661047"/>
            <a:ext cx="3457575" cy="462893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0" name="Shape 25"/>
          <p:cNvSpPr/>
          <p:nvPr/>
        </p:nvSpPr>
        <p:spPr>
          <a:xfrm>
            <a:off x="5257800" y="2661047"/>
            <a:ext cx="28575" cy="462893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1" name="Text 26"/>
          <p:cNvSpPr/>
          <p:nvPr/>
        </p:nvSpPr>
        <p:spPr>
          <a:xfrm>
            <a:off x="5257800" y="2661047"/>
            <a:ext cx="3457575" cy="462893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F4F4F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MONGO_URI = "mongodb+srv://user:pass@cluster.mongodb.net/db"</a:t>
            </a:r>
            <a:endParaRPr lang="en-US" sz="834" dirty="0"/>
          </a:p>
        </p:txBody>
      </p:sp>
      <p:sp>
        <p:nvSpPr>
          <p:cNvPr id="32" name="Shape 27"/>
          <p:cNvSpPr/>
          <p:nvPr/>
        </p:nvSpPr>
        <p:spPr>
          <a:xfrm>
            <a:off x="4964906" y="3238240"/>
            <a:ext cx="214313" cy="214313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3" name="Text 28"/>
          <p:cNvSpPr/>
          <p:nvPr/>
        </p:nvSpPr>
        <p:spPr>
          <a:xfrm>
            <a:off x="4964906" y="3238240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F4F4F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counter(step-counter)</a:t>
            </a:r>
            <a:endParaRPr lang="en-US" sz="784" dirty="0"/>
          </a:p>
        </p:txBody>
      </p:sp>
      <p:sp>
        <p:nvSpPr>
          <p:cNvPr id="34" name="Text 29"/>
          <p:cNvSpPr/>
          <p:nvPr/>
        </p:nvSpPr>
        <p:spPr>
          <a:xfrm>
            <a:off x="5286375" y="3240025"/>
            <a:ext cx="6000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F3F4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pymongo</a:t>
            </a:r>
            <a:endParaRPr lang="en-US" sz="1050" dirty="0"/>
          </a:p>
        </p:txBody>
      </p:sp>
      <p:sp>
        <p:nvSpPr>
          <p:cNvPr id="35" name="Text 30"/>
          <p:cNvSpPr/>
          <p:nvPr/>
        </p:nvSpPr>
        <p:spPr>
          <a:xfrm>
            <a:off x="5286375" y="3252527"/>
            <a:ext cx="3318272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ile Flask API bulut veritabanına bağlanıp CRUD işlemleri yaptı.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0" y="4532709"/>
            <a:ext cx="9144000" cy="610791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7" name="Shape 32"/>
          <p:cNvSpPr/>
          <p:nvPr/>
        </p:nvSpPr>
        <p:spPr>
          <a:xfrm>
            <a:off x="0" y="4532709"/>
            <a:ext cx="9144000" cy="14288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8" name="Text 33"/>
          <p:cNvSpPr/>
          <p:nvPr/>
        </p:nvSpPr>
        <p:spPr>
          <a:xfrm>
            <a:off x="428625" y="4689872"/>
            <a:ext cx="828675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4F4F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Sonuç:</a:t>
            </a:r>
            <a:r>
              <a:rPr lang="en-US" sz="1269" dirty="0">
                <a:solidFill>
                  <a:srgbClr val="F4F4F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Uygulama yeniden başlatılsa dahi veriler </a:t>
            </a:r>
            <a:r>
              <a:rPr lang="en-US" sz="1269" dirty="0">
                <a:solidFill>
                  <a:srgbClr val="16A34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bulutta güvenle saklanmaya</a:t>
            </a:r>
            <a:r>
              <a:rPr lang="en-US" sz="1269" dirty="0">
                <a:solidFill>
                  <a:srgbClr val="F4F4F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devam </a:t>
            </a:r>
            <a:r>
              <a:rPr lang="en-US" sz="1269" dirty="0">
                <a:solidFill>
                  <a:srgbClr val="F4F4F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eder.</a:t>
            </a:r>
            <a:endParaRPr lang="en-US" sz="1269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00125"/>
          </a:xfrm>
          <a:prstGeom prst="rect">
            <a:avLst/>
          </a:prstGeom>
          <a:solidFill>
            <a:srgbClr val="F4F4F5">
              <a:alpha val="9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985838"/>
            <a:ext cx="9144000" cy="14288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85750"/>
            <a:ext cx="8286750" cy="3018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8181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Faz 3: Backend Buluta Çıkıyor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428625" y="659011"/>
            <a:ext cx="828675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0284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AWS EC2 Sunucusu Kurulumu</a:t>
            </a:r>
            <a:endParaRPr lang="en-US" sz="1704" dirty="0"/>
          </a:p>
        </p:txBody>
      </p:sp>
      <p:sp>
        <p:nvSpPr>
          <p:cNvPr id="7" name="Shape 4"/>
          <p:cNvSpPr/>
          <p:nvPr/>
        </p:nvSpPr>
        <p:spPr>
          <a:xfrm>
            <a:off x="0" y="1000125"/>
            <a:ext cx="9144000" cy="4143375"/>
          </a:xfrm>
          <a:prstGeom prst="rect">
            <a:avLst/>
          </a:prstGeom>
          <a:solidFill>
            <a:srgbClr val="F4F4F5">
              <a:alpha val="85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0" y="1000125"/>
            <a:ext cx="3047981" cy="4143375"/>
          </a:xfrm>
          <a:prstGeom prst="rect">
            <a:avLst/>
          </a:prstGeom>
          <a:solidFill>
            <a:srgbClr val="0284C7">
              <a:alpha val="5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3033694" y="1000125"/>
            <a:ext cx="14288" cy="4143375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10" name="Text 7"/>
          <p:cNvSpPr/>
          <p:nvPr/>
        </p:nvSpPr>
        <p:spPr>
          <a:xfrm>
            <a:off x="428625" y="1214438"/>
            <a:ext cx="2405044" cy="1508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59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Yerel makinede çalışan Flask API'yi 7/24 erişilebilir kılmak için bir bulut sanal sunucusuna taşıma zamanı geldi. Bu adım, uygulamanın dış dünyaya açılmasını sağlar.</a:t>
            </a:r>
            <a:endParaRPr lang="en-US" sz="1159" dirty="0"/>
          </a:p>
        </p:txBody>
      </p:sp>
      <p:sp>
        <p:nvSpPr>
          <p:cNvPr id="11" name="Shape 8"/>
          <p:cNvSpPr/>
          <p:nvPr/>
        </p:nvSpPr>
        <p:spPr>
          <a:xfrm>
            <a:off x="428625" y="2980339"/>
            <a:ext cx="2405044" cy="1496616"/>
          </a:xfrm>
          <a:prstGeom prst="rect">
            <a:avLst/>
          </a:prstGeom>
          <a:solidFill>
            <a:srgbClr val="18181B"/>
          </a:solidFill>
          <a:ln w="18288">
            <a:solidFill>
              <a:srgbClr val="18181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57213" y="3108927"/>
            <a:ext cx="2147869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6A34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SONUÇ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57213" y="3355386"/>
            <a:ext cx="2147869" cy="964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F4F4F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Flask API artık herhangi </a:t>
            </a:r>
            <a:r>
              <a:rPr lang="en-US" sz="942" dirty="0">
                <a:solidFill>
                  <a:srgbClr val="F4F4F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bir tarayıcıdan veya </a:t>
            </a:r>
            <a:r>
              <a:rPr lang="en-US" sz="942" dirty="0">
                <a:solidFill>
                  <a:srgbClr val="F4F4F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istemciden</a:t>
            </a:r>
            <a:r>
              <a:rPr lang="en-US" sz="942" dirty="0">
                <a:solidFill>
                  <a:srgbClr val="F4F4F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
</a:t>
            </a:r>
            <a:r>
              <a:rPr lang="en-US" sz="942" dirty="0">
                <a:solidFill>
                  <a:srgbClr val="F4F4F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</a:t>
            </a:r>
            <a:r>
              <a:rPr lang="en-US" sz="942" dirty="0">
                <a:solidFill>
                  <a:srgbClr val="0284C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http://&lt;EC2-IP&gt;:5000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3262294" y="1214438"/>
            <a:ext cx="54530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8181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EC2 Kurulum Adımları:</a:t>
            </a:r>
            <a:endParaRPr lang="en-US" sz="1193" dirty="0"/>
          </a:p>
        </p:txBody>
      </p:sp>
      <p:sp>
        <p:nvSpPr>
          <p:cNvPr id="15" name="Shape 12"/>
          <p:cNvSpPr/>
          <p:nvPr/>
        </p:nvSpPr>
        <p:spPr>
          <a:xfrm>
            <a:off x="3262294" y="1569839"/>
            <a:ext cx="285750" cy="28575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16" name="Text 13"/>
          <p:cNvSpPr/>
          <p:nvPr/>
        </p:nvSpPr>
        <p:spPr>
          <a:xfrm>
            <a:off x="3262294" y="1569839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4F4F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</a:t>
            </a:r>
            <a:endParaRPr lang="en-US" sz="1269" dirty="0"/>
          </a:p>
        </p:txBody>
      </p:sp>
      <p:sp>
        <p:nvSpPr>
          <p:cNvPr id="17" name="Text 14"/>
          <p:cNvSpPr/>
          <p:nvPr/>
        </p:nvSpPr>
        <p:spPr>
          <a:xfrm>
            <a:off x="3662344" y="1569839"/>
            <a:ext cx="505303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AWS Console üzerinden bir </a:t>
            </a:r>
            <a:r>
              <a:rPr lang="en-US" sz="987" b="1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EC2 instance</a:t>
            </a:r>
            <a:r>
              <a:rPr lang="en-US" sz="10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(Linux/Ubuntu) kiralandı.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262294" y="1969889"/>
            <a:ext cx="285750" cy="28575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19" name="Text 16"/>
          <p:cNvSpPr/>
          <p:nvPr/>
        </p:nvSpPr>
        <p:spPr>
          <a:xfrm>
            <a:off x="3262294" y="1969889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4F4F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</a:t>
            </a:r>
            <a:endParaRPr lang="en-US" sz="1269" dirty="0"/>
          </a:p>
        </p:txBody>
      </p:sp>
      <p:sp>
        <p:nvSpPr>
          <p:cNvPr id="20" name="Text 17"/>
          <p:cNvSpPr/>
          <p:nvPr/>
        </p:nvSpPr>
        <p:spPr>
          <a:xfrm>
            <a:off x="3662344" y="1969889"/>
            <a:ext cx="505303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SSH</a:t>
            </a:r>
            <a:r>
              <a:rPr lang="en-US" sz="10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ile sunucuya güvenli bağlantı kuruldu:</a:t>
            </a:r>
            <a:endParaRPr lang="en-US" sz="987" dirty="0"/>
          </a:p>
        </p:txBody>
      </p:sp>
      <p:sp>
        <p:nvSpPr>
          <p:cNvPr id="21" name="Shape 18"/>
          <p:cNvSpPr/>
          <p:nvPr/>
        </p:nvSpPr>
        <p:spPr>
          <a:xfrm>
            <a:off x="3662344" y="2241352"/>
            <a:ext cx="5053031" cy="292894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22" name="Shape 19"/>
          <p:cNvSpPr/>
          <p:nvPr/>
        </p:nvSpPr>
        <p:spPr>
          <a:xfrm>
            <a:off x="3662344" y="2241352"/>
            <a:ext cx="28575" cy="29289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3" name="Text 20"/>
          <p:cNvSpPr/>
          <p:nvPr/>
        </p:nvSpPr>
        <p:spPr>
          <a:xfrm>
            <a:off x="3662344" y="2241352"/>
            <a:ext cx="5053031" cy="292894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4F4F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ssh -i key.pem ubuntu@&lt;EC2-Public-IP&gt;</a:t>
            </a:r>
            <a:endParaRPr lang="en-US" sz="834" dirty="0"/>
          </a:p>
        </p:txBody>
      </p:sp>
      <p:sp>
        <p:nvSpPr>
          <p:cNvPr id="24" name="Shape 21"/>
          <p:cNvSpPr/>
          <p:nvPr/>
        </p:nvSpPr>
        <p:spPr>
          <a:xfrm>
            <a:off x="3262294" y="2648545"/>
            <a:ext cx="285750" cy="28575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25" name="Text 22"/>
          <p:cNvSpPr/>
          <p:nvPr/>
        </p:nvSpPr>
        <p:spPr>
          <a:xfrm>
            <a:off x="3262294" y="2648545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4F4F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3</a:t>
            </a:r>
            <a:endParaRPr lang="en-US" sz="1269" dirty="0"/>
          </a:p>
        </p:txBody>
      </p:sp>
      <p:sp>
        <p:nvSpPr>
          <p:cNvPr id="26" name="Text 23"/>
          <p:cNvSpPr/>
          <p:nvPr/>
        </p:nvSpPr>
        <p:spPr>
          <a:xfrm>
            <a:off x="3662344" y="2648545"/>
            <a:ext cx="505303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ortamı kuruldu ve Flask uygulama kodu sunucuya aktarıldı.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3262294" y="3048595"/>
            <a:ext cx="285750" cy="28575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28" name="Text 25"/>
          <p:cNvSpPr/>
          <p:nvPr/>
        </p:nvSpPr>
        <p:spPr>
          <a:xfrm>
            <a:off x="3262294" y="3048595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4F4F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4</a:t>
            </a:r>
            <a:endParaRPr lang="en-US" sz="1269" dirty="0"/>
          </a:p>
        </p:txBody>
      </p:sp>
      <p:sp>
        <p:nvSpPr>
          <p:cNvPr id="29" name="Text 26"/>
          <p:cNvSpPr/>
          <p:nvPr/>
        </p:nvSpPr>
        <p:spPr>
          <a:xfrm>
            <a:off x="3662344" y="3048595"/>
            <a:ext cx="505303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Arka planda kesintisiz çalışması için </a:t>
            </a:r>
            <a:r>
              <a:rPr lang="en-US" sz="987" b="1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nohup</a:t>
            </a:r>
            <a:r>
              <a:rPr lang="en-US" sz="10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komutu kullanıldı: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3662344" y="3320058"/>
            <a:ext cx="5053031" cy="292894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1" name="Shape 28"/>
          <p:cNvSpPr/>
          <p:nvPr/>
        </p:nvSpPr>
        <p:spPr>
          <a:xfrm>
            <a:off x="3662344" y="3320058"/>
            <a:ext cx="28575" cy="29289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2" name="Text 29"/>
          <p:cNvSpPr/>
          <p:nvPr/>
        </p:nvSpPr>
        <p:spPr>
          <a:xfrm>
            <a:off x="3662344" y="3320058"/>
            <a:ext cx="5053031" cy="292894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4F4F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nohup python3 app.py &amp;</a:t>
            </a:r>
            <a:endParaRPr lang="en-US" sz="834" dirty="0"/>
          </a:p>
        </p:txBody>
      </p:sp>
      <p:sp>
        <p:nvSpPr>
          <p:cNvPr id="33" name="Shape 30"/>
          <p:cNvSpPr/>
          <p:nvPr/>
        </p:nvSpPr>
        <p:spPr>
          <a:xfrm>
            <a:off x="3262294" y="3727252"/>
            <a:ext cx="285750" cy="28575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4" name="Text 31"/>
          <p:cNvSpPr/>
          <p:nvPr/>
        </p:nvSpPr>
        <p:spPr>
          <a:xfrm>
            <a:off x="3262294" y="3727252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4F4F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5</a:t>
            </a:r>
            <a:endParaRPr lang="en-US" sz="1269" dirty="0"/>
          </a:p>
        </p:txBody>
      </p:sp>
      <p:sp>
        <p:nvSpPr>
          <p:cNvPr id="35" name="Text 32"/>
          <p:cNvSpPr/>
          <p:nvPr/>
        </p:nvSpPr>
        <p:spPr>
          <a:xfrm>
            <a:off x="3662344" y="3727252"/>
            <a:ext cx="505303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AWS Security Groups</a:t>
            </a:r>
            <a:r>
              <a:rPr lang="en-US" sz="10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üzerinden </a:t>
            </a:r>
            <a:r>
              <a:rPr lang="en-US" sz="987" b="1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5000 portu</a:t>
            </a:r>
            <a:r>
              <a:rPr lang="en-US" sz="10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dış dünyaya açıldı.</a:t>
            </a:r>
            <a:endParaRPr lang="en-US" sz="987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226939"/>
          </a:xfrm>
          <a:prstGeom prst="rect">
            <a:avLst/>
          </a:prstGeom>
          <a:solidFill>
            <a:srgbClr val="F4F4F5">
              <a:alpha val="9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1212652"/>
            <a:ext cx="9144000" cy="14288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85750"/>
            <a:ext cx="8286750" cy="3018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8181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Güvenli Erişim: Security Groups ve Port Yönetimi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428625" y="659011"/>
            <a:ext cx="8286750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0284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AWS EC2'de ağ güvenliği, Security Groups (Güvenlik Grupları) aracılığıyla yönetilir.</a:t>
            </a:r>
            <a:endParaRPr lang="en-US" sz="1704" dirty="0"/>
          </a:p>
        </p:txBody>
      </p:sp>
      <p:sp>
        <p:nvSpPr>
          <p:cNvPr id="7" name="Shape 4"/>
          <p:cNvSpPr/>
          <p:nvPr/>
        </p:nvSpPr>
        <p:spPr>
          <a:xfrm>
            <a:off x="0" y="1212652"/>
            <a:ext cx="9144000" cy="3930848"/>
          </a:xfrm>
          <a:prstGeom prst="rect">
            <a:avLst/>
          </a:prstGeom>
          <a:solidFill>
            <a:srgbClr val="F4F4F5">
              <a:alpha val="85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0" y="1212652"/>
            <a:ext cx="9144000" cy="2003822"/>
          </a:xfrm>
          <a:prstGeom prst="rect">
            <a:avLst/>
          </a:prstGeom>
          <a:solidFill>
            <a:srgbClr val="0284C7">
              <a:alpha val="5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0" y="3202186"/>
            <a:ext cx="9144000" cy="14288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10" name="Text 7"/>
          <p:cNvSpPr/>
          <p:nvPr/>
        </p:nvSpPr>
        <p:spPr>
          <a:xfrm>
            <a:off x="428625" y="1498402"/>
            <a:ext cx="828675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8181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Yapılandırılan Kurallar</a:t>
            </a:r>
            <a:endParaRPr lang="en-US" sz="1193" dirty="0"/>
          </a:p>
        </p:txBody>
      </p:sp>
      <p:sp>
        <p:nvSpPr>
          <p:cNvPr id="11" name="Shape 8"/>
          <p:cNvSpPr/>
          <p:nvPr/>
        </p:nvSpPr>
        <p:spPr>
          <a:xfrm>
            <a:off x="428625" y="1868091"/>
            <a:ext cx="8286750" cy="1285875"/>
          </a:xfrm>
          <a:prstGeom prst="rect">
            <a:avLst/>
          </a:prstGeom>
          <a:solidFill>
            <a:srgbClr val="F4F4F5"/>
          </a:solidFill>
          <a:ln w="18288">
            <a:solidFill>
              <a:srgbClr val="18181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5769" y="1875234"/>
            <a:ext cx="1492793" cy="435769"/>
          </a:xfrm>
          <a:prstGeom prst="rect">
            <a:avLst/>
          </a:prstGeom>
          <a:solidFill>
            <a:srgbClr val="18181B"/>
          </a:solidFill>
          <a:ln w="18288">
            <a:solidFill>
              <a:srgbClr val="18181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5769" y="1875234"/>
            <a:ext cx="1492793" cy="435769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4F4F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Kural Türü</a:t>
            </a:r>
            <a:endParaRPr lang="en-US" sz="1090" dirty="0"/>
          </a:p>
        </p:txBody>
      </p:sp>
      <p:sp>
        <p:nvSpPr>
          <p:cNvPr id="14" name="Shape 11"/>
          <p:cNvSpPr/>
          <p:nvPr/>
        </p:nvSpPr>
        <p:spPr>
          <a:xfrm>
            <a:off x="1921557" y="1875234"/>
            <a:ext cx="813522" cy="435769"/>
          </a:xfrm>
          <a:prstGeom prst="rect">
            <a:avLst/>
          </a:prstGeom>
          <a:solidFill>
            <a:srgbClr val="18181B"/>
          </a:solidFill>
          <a:ln w="18288">
            <a:solidFill>
              <a:srgbClr val="18181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921557" y="1875234"/>
            <a:ext cx="813522" cy="435769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4F4F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Port</a:t>
            </a:r>
            <a:endParaRPr lang="en-US" sz="1090" dirty="0"/>
          </a:p>
        </p:txBody>
      </p:sp>
      <p:sp>
        <p:nvSpPr>
          <p:cNvPr id="16" name="Shape 13"/>
          <p:cNvSpPr/>
          <p:nvPr/>
        </p:nvSpPr>
        <p:spPr>
          <a:xfrm>
            <a:off x="2722662" y="1875234"/>
            <a:ext cx="2065967" cy="435769"/>
          </a:xfrm>
          <a:prstGeom prst="rect">
            <a:avLst/>
          </a:prstGeom>
          <a:solidFill>
            <a:srgbClr val="18181B"/>
          </a:solidFill>
          <a:ln w="18288">
            <a:solidFill>
              <a:srgbClr val="18181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722662" y="1875234"/>
            <a:ext cx="2065967" cy="435769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4F4F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Kaynak (Source)</a:t>
            </a:r>
            <a:endParaRPr lang="en-US" sz="1090" dirty="0"/>
          </a:p>
        </p:txBody>
      </p:sp>
      <p:sp>
        <p:nvSpPr>
          <p:cNvPr id="18" name="Shape 15"/>
          <p:cNvSpPr/>
          <p:nvPr/>
        </p:nvSpPr>
        <p:spPr>
          <a:xfrm>
            <a:off x="4780480" y="1875234"/>
            <a:ext cx="3927751" cy="435769"/>
          </a:xfrm>
          <a:prstGeom prst="rect">
            <a:avLst/>
          </a:prstGeom>
          <a:solidFill>
            <a:srgbClr val="18181B"/>
          </a:solidFill>
          <a:ln w="18288">
            <a:solidFill>
              <a:srgbClr val="18181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80480" y="1875234"/>
            <a:ext cx="3927751" cy="435769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4F4F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Amaç</a:t>
            </a:r>
            <a:endParaRPr lang="en-US" sz="1090" dirty="0"/>
          </a:p>
        </p:txBody>
      </p:sp>
      <p:sp>
        <p:nvSpPr>
          <p:cNvPr id="20" name="Text 17"/>
          <p:cNvSpPr/>
          <p:nvPr/>
        </p:nvSpPr>
        <p:spPr>
          <a:xfrm>
            <a:off x="435769" y="2296716"/>
            <a:ext cx="1484895" cy="417909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SSH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1920664" y="2296716"/>
            <a:ext cx="800546" cy="417909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284C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22</a:t>
            </a:r>
            <a:endParaRPr lang="en-US" sz="987" dirty="0"/>
          </a:p>
        </p:txBody>
      </p:sp>
      <p:sp>
        <p:nvSpPr>
          <p:cNvPr id="22" name="Text 19"/>
          <p:cNvSpPr/>
          <p:nvPr/>
        </p:nvSpPr>
        <p:spPr>
          <a:xfrm>
            <a:off x="2721211" y="2296716"/>
            <a:ext cx="2055195" cy="417909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284C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Geliştirici IP</a:t>
            </a:r>
            <a:endParaRPr lang="en-US" sz="987" dirty="0"/>
          </a:p>
        </p:txBody>
      </p:sp>
      <p:sp>
        <p:nvSpPr>
          <p:cNvPr id="23" name="Text 20"/>
          <p:cNvSpPr/>
          <p:nvPr/>
        </p:nvSpPr>
        <p:spPr>
          <a:xfrm>
            <a:off x="4776406" y="2296716"/>
            <a:ext cx="3931825" cy="417909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Sunucuya güvenli bağlantı ve yönetim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35769" y="2714625"/>
            <a:ext cx="1484895" cy="417909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TCP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1920664" y="2714625"/>
            <a:ext cx="800546" cy="417909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284C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5000</a:t>
            </a:r>
            <a:endParaRPr lang="en-US" sz="987" dirty="0"/>
          </a:p>
        </p:txBody>
      </p:sp>
      <p:sp>
        <p:nvSpPr>
          <p:cNvPr id="26" name="Text 23"/>
          <p:cNvSpPr/>
          <p:nvPr/>
        </p:nvSpPr>
        <p:spPr>
          <a:xfrm>
            <a:off x="2721211" y="2714625"/>
            <a:ext cx="2055195" cy="417909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284C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0.0.0.0/0</a:t>
            </a:r>
            <a:endParaRPr lang="en-US" sz="987" dirty="0"/>
          </a:p>
        </p:txBody>
      </p:sp>
      <p:sp>
        <p:nvSpPr>
          <p:cNvPr id="27" name="Text 24"/>
          <p:cNvSpPr/>
          <p:nvPr/>
        </p:nvSpPr>
        <p:spPr>
          <a:xfrm>
            <a:off x="4776406" y="2714625"/>
            <a:ext cx="3931825" cy="417909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Flask API'ye dış dünyadan (Frontend) erişim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0" y="3216473"/>
            <a:ext cx="9144000" cy="1927027"/>
          </a:xfrm>
          <a:prstGeom prst="rect">
            <a:avLst/>
          </a:prstGeom>
          <a:solidFill>
            <a:srgbClr val="16A34A">
              <a:alpha val="5000"/>
            </a:srgbClr>
          </a:solidFill>
          <a:ln/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3533477"/>
            <a:ext cx="200025" cy="200025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735806" y="3502223"/>
            <a:ext cx="1555552" cy="2625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6A34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Önemli Notlar</a:t>
            </a:r>
            <a:endParaRPr lang="en-US" sz="1397" dirty="0"/>
          </a:p>
        </p:txBody>
      </p:sp>
      <p:sp>
        <p:nvSpPr>
          <p:cNvPr id="31" name="Text 27"/>
          <p:cNvSpPr/>
          <p:nvPr/>
        </p:nvSpPr>
        <p:spPr>
          <a:xfrm>
            <a:off x="428625" y="3907631"/>
            <a:ext cx="8286750" cy="228600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42" dirty="0">
                <a:solidFill>
                  <a:srgbClr val="F4F4F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nohup</a:t>
            </a:r>
            <a:r>
              <a:rPr lang="en-US" sz="10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komutu, SSH bağlantısı kapandıktan sonra da uygulamanın arka planda çalışmaya devam etmesini sağlar.</a:t>
            </a:r>
            <a:endParaRPr lang="en-US" sz="942" dirty="0"/>
          </a:p>
        </p:txBody>
      </p:sp>
      <p:sp>
        <p:nvSpPr>
          <p:cNvPr id="32" name="Text 28"/>
          <p:cNvSpPr/>
          <p:nvPr/>
        </p:nvSpPr>
        <p:spPr>
          <a:xfrm>
            <a:off x="428625" y="4243388"/>
            <a:ext cx="8286750" cy="228600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Üretim (production) ortamlarında daha güvenilir süreç yönetimi için </a:t>
            </a:r>
            <a:r>
              <a:rPr lang="en-US" sz="942" dirty="0">
                <a:solidFill>
                  <a:srgbClr val="F4F4F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systemd</a:t>
            </a:r>
            <a:r>
              <a:rPr lang="en-US" sz="10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veya </a:t>
            </a:r>
            <a:r>
              <a:rPr lang="en-US" sz="942" dirty="0">
                <a:solidFill>
                  <a:srgbClr val="F4F4F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supervisor</a:t>
            </a:r>
            <a:r>
              <a:rPr lang="en-US" sz="10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gibi araçlar tercih edilir.</a:t>
            </a:r>
            <a:endParaRPr lang="en-US" sz="1050" dirty="0"/>
          </a:p>
        </p:txBody>
      </p:sp>
      <p:sp>
        <p:nvSpPr>
          <p:cNvPr id="33" name="Text 29"/>
          <p:cNvSpPr/>
          <p:nvPr/>
        </p:nvSpPr>
        <p:spPr>
          <a:xfrm>
            <a:off x="428625" y="4579144"/>
            <a:ext cx="8286750" cy="457200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Group kuralları, yalnızca gerekli portları (22 ve 5000) açarak sunucunun saldırı yüzeyini (attack surface) minimize eder.</a:t>
            </a:r>
            <a:endParaRPr lang="en-US" sz="1050" dirty="0"/>
          </a:p>
        </p:txBody>
      </p:sp>
      <p:sp>
        <p:nvSpPr>
          <p:cNvPr id="34" name="Text 30"/>
          <p:cNvSpPr/>
          <p:nvPr/>
        </p:nvSpPr>
        <p:spPr>
          <a:xfrm>
            <a:off x="428625" y="3943350"/>
            <a:ext cx="60387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727" dirty="0"/>
          </a:p>
        </p:txBody>
      </p:sp>
      <p:sp>
        <p:nvSpPr>
          <p:cNvPr id="35" name="Text 31"/>
          <p:cNvSpPr/>
          <p:nvPr/>
        </p:nvSpPr>
        <p:spPr>
          <a:xfrm>
            <a:off x="428625" y="4279106"/>
            <a:ext cx="60387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727" dirty="0"/>
          </a:p>
        </p:txBody>
      </p:sp>
      <p:sp>
        <p:nvSpPr>
          <p:cNvPr id="36" name="Text 32"/>
          <p:cNvSpPr/>
          <p:nvPr/>
        </p:nvSpPr>
        <p:spPr>
          <a:xfrm>
            <a:off x="428625" y="4614863"/>
            <a:ext cx="60387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727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226939"/>
          </a:xfrm>
          <a:prstGeom prst="rect">
            <a:avLst/>
          </a:prstGeom>
          <a:solidFill>
            <a:srgbClr val="F4F4F5">
              <a:alpha val="9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1212652"/>
            <a:ext cx="9144000" cy="14288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85750"/>
            <a:ext cx="8286750" cy="3018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8181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Faz 4: Frontend Dünyaya Açılıyor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428625" y="659011"/>
            <a:ext cx="8286750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0284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Son aşamada React uygulaması, AWS S3 üzerinde statik web sitesi olarak yayınlandı.</a:t>
            </a:r>
            <a:endParaRPr lang="en-US" sz="1704" dirty="0"/>
          </a:p>
        </p:txBody>
      </p:sp>
      <p:sp>
        <p:nvSpPr>
          <p:cNvPr id="7" name="Shape 4"/>
          <p:cNvSpPr/>
          <p:nvPr/>
        </p:nvSpPr>
        <p:spPr>
          <a:xfrm>
            <a:off x="0" y="1212652"/>
            <a:ext cx="9144000" cy="3320058"/>
          </a:xfrm>
          <a:prstGeom prst="rect">
            <a:avLst/>
          </a:prstGeom>
          <a:solidFill>
            <a:srgbClr val="F4F4F5">
              <a:alpha val="85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0" y="1212652"/>
            <a:ext cx="3047981" cy="3320058"/>
          </a:xfrm>
          <a:prstGeom prst="rect">
            <a:avLst/>
          </a:prstGeom>
          <a:solidFill>
            <a:srgbClr val="0284C7">
              <a:alpha val="5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3033694" y="1212652"/>
            <a:ext cx="14288" cy="3320058"/>
          </a:xfrm>
          <a:prstGeom prst="rect">
            <a:avLst/>
          </a:prstGeom>
          <a:solidFill>
            <a:srgbClr val="18181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209" y="1947565"/>
            <a:ext cx="1071563" cy="8572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63219" y="3019127"/>
            <a:ext cx="921544" cy="3393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8181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AWS S3</a:t>
            </a:r>
            <a:endParaRPr lang="en-US" sz="1808" dirty="0"/>
          </a:p>
        </p:txBody>
      </p:sp>
      <p:sp>
        <p:nvSpPr>
          <p:cNvPr id="12" name="Shape 8"/>
          <p:cNvSpPr/>
          <p:nvPr/>
        </p:nvSpPr>
        <p:spPr>
          <a:xfrm>
            <a:off x="438141" y="3465612"/>
            <a:ext cx="2171700" cy="332184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13" name="Text 9"/>
          <p:cNvSpPr/>
          <p:nvPr/>
        </p:nvSpPr>
        <p:spPr>
          <a:xfrm>
            <a:off x="438141" y="3465612"/>
            <a:ext cx="2171700" cy="332184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4F4F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Static Website Hosting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3476606" y="1355527"/>
            <a:ext cx="5238769" cy="428625"/>
          </a:xfrm>
          <a:prstGeom prst="rect">
            <a:avLst/>
          </a:prstGeom>
          <a:noFill/>
          <a:ln/>
        </p:spPr>
        <p:txBody>
          <a:bodyPr wrap="square" lIns="425196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Adreslerinin Güncellenmesi:</a:t>
            </a:r>
            <a:r>
              <a:rPr lang="en-US" sz="10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React kodundaki API istek adresleri, EC2 sunucusunun Public IP'si ile güncellendi.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3476606" y="1355527"/>
            <a:ext cx="257175" cy="257175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16" name="Text 12"/>
          <p:cNvSpPr/>
          <p:nvPr/>
        </p:nvSpPr>
        <p:spPr>
          <a:xfrm>
            <a:off x="3476606" y="1355527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4F4F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counter(step-counter)</a:t>
            </a:r>
            <a:endParaRPr lang="en-US" sz="987" dirty="0"/>
          </a:p>
        </p:txBody>
      </p:sp>
      <p:sp>
        <p:nvSpPr>
          <p:cNvPr id="17" name="Shape 13"/>
          <p:cNvSpPr/>
          <p:nvPr/>
        </p:nvSpPr>
        <p:spPr>
          <a:xfrm>
            <a:off x="3476606" y="1869877"/>
            <a:ext cx="257175" cy="257175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18" name="Text 14"/>
          <p:cNvSpPr/>
          <p:nvPr/>
        </p:nvSpPr>
        <p:spPr>
          <a:xfrm>
            <a:off x="3476606" y="1869877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4F4F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counter(step-counter)</a:t>
            </a:r>
            <a:endParaRPr lang="en-US" sz="987" dirty="0"/>
          </a:p>
        </p:txBody>
      </p:sp>
      <p:sp>
        <p:nvSpPr>
          <p:cNvPr id="19" name="Text 15"/>
          <p:cNvSpPr/>
          <p:nvPr/>
        </p:nvSpPr>
        <p:spPr>
          <a:xfrm>
            <a:off x="3833794" y="1889522"/>
            <a:ext cx="1146572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Build:</a:t>
            </a:r>
            <a:endParaRPr lang="en-US" sz="987" dirty="0"/>
          </a:p>
        </p:txBody>
      </p:sp>
      <p:sp>
        <p:nvSpPr>
          <p:cNvPr id="20" name="Text 16"/>
          <p:cNvSpPr/>
          <p:nvPr/>
        </p:nvSpPr>
        <p:spPr>
          <a:xfrm>
            <a:off x="3833794" y="1889522"/>
            <a:ext cx="4848820" cy="3875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Proje, production için optimize edilmiş statik dosyalara derlendi: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3833794" y="2369939"/>
            <a:ext cx="4881581" cy="307181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22" name="Shape 18"/>
          <p:cNvSpPr/>
          <p:nvPr/>
        </p:nvSpPr>
        <p:spPr>
          <a:xfrm>
            <a:off x="3833794" y="2369939"/>
            <a:ext cx="28575" cy="307181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3" name="Text 19"/>
          <p:cNvSpPr/>
          <p:nvPr/>
        </p:nvSpPr>
        <p:spPr>
          <a:xfrm>
            <a:off x="3833794" y="2369939"/>
            <a:ext cx="4881581" cy="307181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F4F4F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npm run build</a:t>
            </a:r>
            <a:endParaRPr lang="en-US" sz="942" dirty="0"/>
          </a:p>
        </p:txBody>
      </p:sp>
      <p:sp>
        <p:nvSpPr>
          <p:cNvPr id="24" name="Shape 20"/>
          <p:cNvSpPr/>
          <p:nvPr/>
        </p:nvSpPr>
        <p:spPr>
          <a:xfrm>
            <a:off x="3476606" y="2762845"/>
            <a:ext cx="257175" cy="257175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25" name="Text 21"/>
          <p:cNvSpPr/>
          <p:nvPr/>
        </p:nvSpPr>
        <p:spPr>
          <a:xfrm>
            <a:off x="3476606" y="2762845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4F4F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counter(step-counter)</a:t>
            </a:r>
            <a:endParaRPr lang="en-US" sz="987" dirty="0"/>
          </a:p>
        </p:txBody>
      </p:sp>
      <p:sp>
        <p:nvSpPr>
          <p:cNvPr id="26" name="Text 22"/>
          <p:cNvSpPr/>
          <p:nvPr/>
        </p:nvSpPr>
        <p:spPr>
          <a:xfrm>
            <a:off x="3833794" y="2784277"/>
            <a:ext cx="966192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S3'e Yükleme:</a:t>
            </a:r>
            <a:endParaRPr lang="en-US" sz="987" dirty="0"/>
          </a:p>
        </p:txBody>
      </p:sp>
      <p:sp>
        <p:nvSpPr>
          <p:cNvPr id="27" name="Text 23"/>
          <p:cNvSpPr/>
          <p:nvPr/>
        </p:nvSpPr>
        <p:spPr>
          <a:xfrm>
            <a:off x="4799986" y="2784277"/>
            <a:ext cx="850106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Oluşturulan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5650092" y="2771775"/>
            <a:ext cx="5143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F3F4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build/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6164442" y="2784277"/>
            <a:ext cx="239137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klasörü AWS S3 Bucket'a yüklendi.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3476606" y="3064669"/>
            <a:ext cx="5238769" cy="428625"/>
          </a:xfrm>
          <a:prstGeom prst="rect">
            <a:avLst/>
          </a:prstGeom>
          <a:noFill/>
          <a:ln/>
        </p:spPr>
        <p:txBody>
          <a:bodyPr wrap="square" lIns="425196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Hosting Etkinleştirme:</a:t>
            </a:r>
            <a:r>
              <a:rPr lang="en-US" sz="10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S3 üzerinde </a:t>
            </a:r>
            <a:r>
              <a:rPr lang="en-US" sz="1050" i="1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Static Website Hosting</a:t>
            </a:r>
            <a:r>
              <a:rPr lang="en-US" sz="10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özelliği aktif hale getirildi.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3476606" y="3064669"/>
            <a:ext cx="257175" cy="257175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2" name="Text 28"/>
          <p:cNvSpPr/>
          <p:nvPr/>
        </p:nvSpPr>
        <p:spPr>
          <a:xfrm>
            <a:off x="3476606" y="3064669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4F4F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counter(step-counter)</a:t>
            </a:r>
            <a:endParaRPr lang="en-US" sz="987" dirty="0"/>
          </a:p>
        </p:txBody>
      </p:sp>
      <p:sp>
        <p:nvSpPr>
          <p:cNvPr id="33" name="Shape 29"/>
          <p:cNvSpPr/>
          <p:nvPr/>
        </p:nvSpPr>
        <p:spPr>
          <a:xfrm>
            <a:off x="3476606" y="3579019"/>
            <a:ext cx="257175" cy="257175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4" name="Text 30"/>
          <p:cNvSpPr/>
          <p:nvPr/>
        </p:nvSpPr>
        <p:spPr>
          <a:xfrm>
            <a:off x="3476606" y="3579019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4F4F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counter(step-counter)</a:t>
            </a:r>
            <a:endParaRPr lang="en-US" sz="987" dirty="0"/>
          </a:p>
        </p:txBody>
      </p:sp>
      <p:sp>
        <p:nvSpPr>
          <p:cNvPr id="35" name="Text 31"/>
          <p:cNvSpPr/>
          <p:nvPr/>
        </p:nvSpPr>
        <p:spPr>
          <a:xfrm>
            <a:off x="3833794" y="3598664"/>
            <a:ext cx="932259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Erişim İzinleri:</a:t>
            </a:r>
            <a:endParaRPr lang="en-US" sz="987" dirty="0"/>
          </a:p>
        </p:txBody>
      </p:sp>
      <p:sp>
        <p:nvSpPr>
          <p:cNvPr id="36" name="Text 32"/>
          <p:cNvSpPr/>
          <p:nvPr/>
        </p:nvSpPr>
        <p:spPr>
          <a:xfrm>
            <a:off x="4766053" y="3598664"/>
            <a:ext cx="3527227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Bucket Policy ile tüm kullanıcılara okuma izni verildi:</a:t>
            </a:r>
            <a:endParaRPr lang="en-US" sz="1050" dirty="0"/>
          </a:p>
        </p:txBody>
      </p:sp>
      <p:sp>
        <p:nvSpPr>
          <p:cNvPr id="37" name="Shape 33"/>
          <p:cNvSpPr/>
          <p:nvPr/>
        </p:nvSpPr>
        <p:spPr>
          <a:xfrm>
            <a:off x="3833794" y="3864769"/>
            <a:ext cx="4881581" cy="28575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8" name="Shape 34"/>
          <p:cNvSpPr/>
          <p:nvPr/>
        </p:nvSpPr>
        <p:spPr>
          <a:xfrm>
            <a:off x="3833794" y="3864769"/>
            <a:ext cx="28575" cy="28575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9" name="Text 35"/>
          <p:cNvSpPr/>
          <p:nvPr/>
        </p:nvSpPr>
        <p:spPr>
          <a:xfrm>
            <a:off x="3833794" y="3864769"/>
            <a:ext cx="4881581" cy="285750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4F4F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{ "Effect": "Allow", "Principal": "*", "Action": "s3:GetObject" }</a:t>
            </a:r>
            <a:endParaRPr lang="en-US" sz="834" dirty="0"/>
          </a:p>
        </p:txBody>
      </p:sp>
      <p:sp>
        <p:nvSpPr>
          <p:cNvPr id="40" name="Shape 36"/>
          <p:cNvSpPr/>
          <p:nvPr/>
        </p:nvSpPr>
        <p:spPr>
          <a:xfrm>
            <a:off x="0" y="4532709"/>
            <a:ext cx="9144000" cy="610791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41" name="Shape 37"/>
          <p:cNvSpPr/>
          <p:nvPr/>
        </p:nvSpPr>
        <p:spPr>
          <a:xfrm>
            <a:off x="0" y="4532709"/>
            <a:ext cx="9144000" cy="14288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42" name="Text 38"/>
          <p:cNvSpPr/>
          <p:nvPr/>
        </p:nvSpPr>
        <p:spPr>
          <a:xfrm>
            <a:off x="428625" y="4689872"/>
            <a:ext cx="828675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4F4F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Sonuç:</a:t>
            </a:r>
            <a:r>
              <a:rPr lang="en-US" sz="1269" dirty="0">
                <a:solidFill>
                  <a:srgbClr val="F4F4F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React uygulaması artık dünya genelinde erişilebilir bir URL üzerinden </a:t>
            </a:r>
            <a:r>
              <a:rPr lang="en-US" sz="1269" dirty="0">
                <a:solidFill>
                  <a:srgbClr val="0284C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yayında</a:t>
            </a:r>
            <a:r>
              <a:rPr lang="en-US" sz="1269" dirty="0">
                <a:solidFill>
                  <a:srgbClr val="F4F4F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.</a:t>
            </a:r>
            <a:endParaRPr lang="en-US" sz="1269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6315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00125"/>
          </a:xfrm>
          <a:prstGeom prst="rect">
            <a:avLst/>
          </a:prstGeom>
          <a:solidFill>
            <a:srgbClr val="F4F4F5">
              <a:alpha val="9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985838"/>
            <a:ext cx="9144000" cy="14288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85750"/>
            <a:ext cx="8286750" cy="3018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8181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Projenin Nihai Mimarisi: Uçtan Uca Bulut Altyapısı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428625" y="659011"/>
            <a:ext cx="828675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0284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Dört fazın tamamlanmasıyla ortaya çıkan mimari şu şekilde işlemektedir:</a:t>
            </a:r>
            <a:endParaRPr lang="en-US" sz="1704" dirty="0"/>
          </a:p>
        </p:txBody>
      </p:sp>
      <p:sp>
        <p:nvSpPr>
          <p:cNvPr id="7" name="Shape 4"/>
          <p:cNvSpPr/>
          <p:nvPr/>
        </p:nvSpPr>
        <p:spPr>
          <a:xfrm>
            <a:off x="0" y="1000125"/>
            <a:ext cx="9144000" cy="4263033"/>
          </a:xfrm>
          <a:prstGeom prst="rect">
            <a:avLst/>
          </a:prstGeom>
          <a:solidFill>
            <a:srgbClr val="F4F4F5">
              <a:alpha val="85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0" y="1000125"/>
            <a:ext cx="9144000" cy="2000250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9" name="Shape 6"/>
          <p:cNvSpPr/>
          <p:nvPr/>
        </p:nvSpPr>
        <p:spPr>
          <a:xfrm>
            <a:off x="0" y="2986088"/>
            <a:ext cx="9144000" cy="14288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10" name="Shape 7"/>
          <p:cNvSpPr/>
          <p:nvPr/>
        </p:nvSpPr>
        <p:spPr>
          <a:xfrm>
            <a:off x="428625" y="1548408"/>
            <a:ext cx="1545980" cy="12608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428625" y="1548408"/>
            <a:ext cx="1545980" cy="5715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12" name="Shape 9"/>
          <p:cNvSpPr/>
          <p:nvPr/>
        </p:nvSpPr>
        <p:spPr>
          <a:xfrm>
            <a:off x="1960318" y="1548408"/>
            <a:ext cx="14288" cy="1260872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13" name="Shape 10"/>
          <p:cNvSpPr/>
          <p:nvPr/>
        </p:nvSpPr>
        <p:spPr>
          <a:xfrm>
            <a:off x="428625" y="2794992"/>
            <a:ext cx="1545980" cy="14288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14" name="Shape 11"/>
          <p:cNvSpPr/>
          <p:nvPr/>
        </p:nvSpPr>
        <p:spPr>
          <a:xfrm>
            <a:off x="428625" y="1548408"/>
            <a:ext cx="14288" cy="1260872"/>
          </a:xfrm>
          <a:prstGeom prst="rect">
            <a:avLst/>
          </a:prstGeom>
          <a:solidFill>
            <a:srgbClr val="18181B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359" y="1727002"/>
            <a:ext cx="300038" cy="3429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15615" y="2177058"/>
            <a:ext cx="77152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F3F4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Kullanıcı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71500" y="2437805"/>
            <a:ext cx="1259756" cy="192881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18" name="Text 14"/>
          <p:cNvSpPr/>
          <p:nvPr/>
        </p:nvSpPr>
        <p:spPr>
          <a:xfrm>
            <a:off x="571500" y="2437805"/>
            <a:ext cx="1259756" cy="192881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4F4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Tarayıcı</a:t>
            </a:r>
            <a:endParaRPr lang="en-US" sz="727" dirty="0"/>
          </a:p>
        </p:txBody>
      </p:sp>
      <p:sp>
        <p:nvSpPr>
          <p:cNvPr id="19" name="Text 15"/>
          <p:cNvSpPr/>
          <p:nvPr/>
        </p:nvSpPr>
        <p:spPr>
          <a:xfrm>
            <a:off x="2045568" y="2021681"/>
            <a:ext cx="654379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F3F4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HTTP İsteği</a:t>
            </a:r>
            <a:endParaRPr lang="en-US" sz="683" dirty="0"/>
          </a:p>
        </p:txBody>
      </p:sp>
      <p:sp>
        <p:nvSpPr>
          <p:cNvPr id="20" name="Shape 16"/>
          <p:cNvSpPr/>
          <p:nvPr/>
        </p:nvSpPr>
        <p:spPr>
          <a:xfrm>
            <a:off x="2045568" y="2321719"/>
            <a:ext cx="654379" cy="14288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21" name="Text 17"/>
          <p:cNvSpPr/>
          <p:nvPr/>
        </p:nvSpPr>
        <p:spPr>
          <a:xfrm>
            <a:off x="2624882" y="2250281"/>
            <a:ext cx="11072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2771384" y="1548408"/>
            <a:ext cx="1546092" cy="12608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19"/>
          <p:cNvSpPr/>
          <p:nvPr/>
        </p:nvSpPr>
        <p:spPr>
          <a:xfrm>
            <a:off x="2771384" y="1548408"/>
            <a:ext cx="1546092" cy="5715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4" name="Shape 20"/>
          <p:cNvSpPr/>
          <p:nvPr/>
        </p:nvSpPr>
        <p:spPr>
          <a:xfrm>
            <a:off x="4303189" y="1548408"/>
            <a:ext cx="14288" cy="1260872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25" name="Shape 21"/>
          <p:cNvSpPr/>
          <p:nvPr/>
        </p:nvSpPr>
        <p:spPr>
          <a:xfrm>
            <a:off x="2771384" y="2794992"/>
            <a:ext cx="1546092" cy="14288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26" name="Shape 22"/>
          <p:cNvSpPr/>
          <p:nvPr/>
        </p:nvSpPr>
        <p:spPr>
          <a:xfrm>
            <a:off x="2771384" y="1548408"/>
            <a:ext cx="14288" cy="1260872"/>
          </a:xfrm>
          <a:prstGeom prst="rect">
            <a:avLst/>
          </a:prstGeom>
          <a:solidFill>
            <a:srgbClr val="18181B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0076" y="1727002"/>
            <a:ext cx="428625" cy="34290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3287213" y="2177058"/>
            <a:ext cx="51435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F3F4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AWS S3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2914455" y="2437805"/>
            <a:ext cx="1259895" cy="192881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0" name="Text 25"/>
          <p:cNvSpPr/>
          <p:nvPr/>
        </p:nvSpPr>
        <p:spPr>
          <a:xfrm>
            <a:off x="2914455" y="2437805"/>
            <a:ext cx="1259895" cy="192881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4F4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(Static)</a:t>
            </a:r>
            <a:endParaRPr lang="en-US" sz="727" dirty="0"/>
          </a:p>
        </p:txBody>
      </p:sp>
      <p:sp>
        <p:nvSpPr>
          <p:cNvPr id="31" name="Text 26"/>
          <p:cNvSpPr/>
          <p:nvPr/>
        </p:nvSpPr>
        <p:spPr>
          <a:xfrm>
            <a:off x="4388662" y="2021681"/>
            <a:ext cx="594940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F3F4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API İsteği</a:t>
            </a:r>
            <a:endParaRPr lang="en-US" sz="683" dirty="0"/>
          </a:p>
        </p:txBody>
      </p:sp>
      <p:sp>
        <p:nvSpPr>
          <p:cNvPr id="32" name="Shape 27"/>
          <p:cNvSpPr/>
          <p:nvPr/>
        </p:nvSpPr>
        <p:spPr>
          <a:xfrm>
            <a:off x="4388662" y="2321719"/>
            <a:ext cx="594940" cy="14288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3" name="Text 28"/>
          <p:cNvSpPr/>
          <p:nvPr/>
        </p:nvSpPr>
        <p:spPr>
          <a:xfrm>
            <a:off x="4908454" y="2250281"/>
            <a:ext cx="11072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5055040" y="1548408"/>
            <a:ext cx="1546203" cy="12608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30"/>
          <p:cNvSpPr/>
          <p:nvPr/>
        </p:nvSpPr>
        <p:spPr>
          <a:xfrm>
            <a:off x="5055040" y="1548408"/>
            <a:ext cx="1546203" cy="5715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6" name="Shape 31"/>
          <p:cNvSpPr/>
          <p:nvPr/>
        </p:nvSpPr>
        <p:spPr>
          <a:xfrm>
            <a:off x="6586956" y="1548408"/>
            <a:ext cx="14288" cy="1260872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7" name="Shape 32"/>
          <p:cNvSpPr/>
          <p:nvPr/>
        </p:nvSpPr>
        <p:spPr>
          <a:xfrm>
            <a:off x="5055040" y="2794992"/>
            <a:ext cx="1546203" cy="14288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8" name="Shape 33"/>
          <p:cNvSpPr/>
          <p:nvPr/>
        </p:nvSpPr>
        <p:spPr>
          <a:xfrm>
            <a:off x="5055040" y="1548408"/>
            <a:ext cx="14288" cy="1260872"/>
          </a:xfrm>
          <a:prstGeom prst="rect">
            <a:avLst/>
          </a:prstGeom>
          <a:solidFill>
            <a:srgbClr val="18181B"/>
          </a:solidFill>
          <a:ln/>
        </p:spPr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3927" y="1727002"/>
            <a:ext cx="428625" cy="342900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5528202" y="2177058"/>
            <a:ext cx="60007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F3F4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AWS EC2</a:t>
            </a:r>
            <a:endParaRPr lang="en-US" sz="1050" dirty="0"/>
          </a:p>
        </p:txBody>
      </p:sp>
      <p:sp>
        <p:nvSpPr>
          <p:cNvPr id="41" name="Shape 35"/>
          <p:cNvSpPr/>
          <p:nvPr/>
        </p:nvSpPr>
        <p:spPr>
          <a:xfrm>
            <a:off x="5198250" y="2437805"/>
            <a:ext cx="1260007" cy="192881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42" name="Text 36"/>
          <p:cNvSpPr/>
          <p:nvPr/>
        </p:nvSpPr>
        <p:spPr>
          <a:xfrm>
            <a:off x="5198250" y="2437805"/>
            <a:ext cx="1260007" cy="192881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4F4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Flask API (5000)</a:t>
            </a:r>
            <a:endParaRPr lang="en-US" sz="727" dirty="0"/>
          </a:p>
        </p:txBody>
      </p:sp>
      <p:sp>
        <p:nvSpPr>
          <p:cNvPr id="43" name="Text 37"/>
          <p:cNvSpPr/>
          <p:nvPr/>
        </p:nvSpPr>
        <p:spPr>
          <a:xfrm>
            <a:off x="6672569" y="2087761"/>
            <a:ext cx="425053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F3F4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pymongo</a:t>
            </a:r>
            <a:endParaRPr lang="en-US" sz="683" dirty="0"/>
          </a:p>
        </p:txBody>
      </p:sp>
      <p:sp>
        <p:nvSpPr>
          <p:cNvPr id="44" name="Shape 38"/>
          <p:cNvSpPr/>
          <p:nvPr/>
        </p:nvSpPr>
        <p:spPr>
          <a:xfrm>
            <a:off x="6672569" y="2255639"/>
            <a:ext cx="425053" cy="14288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45" name="Text 39"/>
          <p:cNvSpPr/>
          <p:nvPr/>
        </p:nvSpPr>
        <p:spPr>
          <a:xfrm>
            <a:off x="7022613" y="2184202"/>
            <a:ext cx="11072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8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1050" dirty="0"/>
          </a:p>
        </p:txBody>
      </p:sp>
      <p:sp>
        <p:nvSpPr>
          <p:cNvPr id="46" name="Shape 40"/>
          <p:cNvSpPr/>
          <p:nvPr/>
        </p:nvSpPr>
        <p:spPr>
          <a:xfrm>
            <a:off x="7169060" y="1548408"/>
            <a:ext cx="1546315" cy="12608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Shape 41"/>
          <p:cNvSpPr/>
          <p:nvPr/>
        </p:nvSpPr>
        <p:spPr>
          <a:xfrm>
            <a:off x="7169060" y="1548408"/>
            <a:ext cx="1546315" cy="5715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8" name="Shape 42"/>
          <p:cNvSpPr/>
          <p:nvPr/>
        </p:nvSpPr>
        <p:spPr>
          <a:xfrm>
            <a:off x="8701088" y="1548408"/>
            <a:ext cx="14288" cy="1260872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49" name="Shape 43"/>
          <p:cNvSpPr/>
          <p:nvPr/>
        </p:nvSpPr>
        <p:spPr>
          <a:xfrm>
            <a:off x="7169060" y="2794992"/>
            <a:ext cx="1546315" cy="14288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50" name="Shape 44"/>
          <p:cNvSpPr/>
          <p:nvPr/>
        </p:nvSpPr>
        <p:spPr>
          <a:xfrm>
            <a:off x="7169060" y="1548408"/>
            <a:ext cx="14288" cy="1260872"/>
          </a:xfrm>
          <a:prstGeom prst="rect">
            <a:avLst/>
          </a:prstGeom>
          <a:solidFill>
            <a:srgbClr val="18181B"/>
          </a:solidFill>
          <a:ln/>
        </p:spPr>
      </p:sp>
      <p:pic>
        <p:nvPicPr>
          <p:cNvPr id="5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0977" y="1727002"/>
            <a:ext cx="342900" cy="342900"/>
          </a:xfrm>
          <a:prstGeom prst="rect">
            <a:avLst/>
          </a:prstGeom>
        </p:spPr>
      </p:pic>
      <p:sp>
        <p:nvSpPr>
          <p:cNvPr id="52" name="Text 45"/>
          <p:cNvSpPr/>
          <p:nvPr/>
        </p:nvSpPr>
        <p:spPr>
          <a:xfrm>
            <a:off x="7385214" y="2177058"/>
            <a:ext cx="111442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F3F4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MongoDB Atlas</a:t>
            </a:r>
            <a:endParaRPr lang="en-US" sz="1050" dirty="0"/>
          </a:p>
        </p:txBody>
      </p:sp>
      <p:sp>
        <p:nvSpPr>
          <p:cNvPr id="53" name="Shape 46"/>
          <p:cNvSpPr/>
          <p:nvPr/>
        </p:nvSpPr>
        <p:spPr>
          <a:xfrm>
            <a:off x="7312382" y="2437805"/>
            <a:ext cx="1260118" cy="192881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54" name="Text 47"/>
          <p:cNvSpPr/>
          <p:nvPr/>
        </p:nvSpPr>
        <p:spPr>
          <a:xfrm>
            <a:off x="7312382" y="2437805"/>
            <a:ext cx="1260118" cy="192881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4F4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NoSQL Bulut</a:t>
            </a:r>
            <a:endParaRPr lang="en-US" sz="727" dirty="0"/>
          </a:p>
        </p:txBody>
      </p:sp>
      <p:sp>
        <p:nvSpPr>
          <p:cNvPr id="55" name="Text 48"/>
          <p:cNvSpPr/>
          <p:nvPr/>
        </p:nvSpPr>
        <p:spPr>
          <a:xfrm>
            <a:off x="428625" y="3286125"/>
            <a:ext cx="8286750" cy="2625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8181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Mimarinin Güçlü Yönleri</a:t>
            </a:r>
            <a:endParaRPr lang="en-US" sz="1397" dirty="0"/>
          </a:p>
        </p:txBody>
      </p:sp>
      <p:sp>
        <p:nvSpPr>
          <p:cNvPr id="56" name="Shape 49"/>
          <p:cNvSpPr/>
          <p:nvPr/>
        </p:nvSpPr>
        <p:spPr>
          <a:xfrm>
            <a:off x="428625" y="3727252"/>
            <a:ext cx="1964531" cy="1535906"/>
          </a:xfrm>
          <a:prstGeom prst="rect">
            <a:avLst/>
          </a:prstGeom>
          <a:solidFill>
            <a:srgbClr val="FFFFFF"/>
          </a:solidFill>
          <a:ln w="18288">
            <a:solidFill>
              <a:srgbClr val="18181B"/>
            </a:solidFill>
            <a:prstDash val="solid"/>
          </a:ln>
        </p:spPr>
      </p:sp>
      <p:pic>
        <p:nvPicPr>
          <p:cNvPr id="5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895130"/>
            <a:ext cx="125016" cy="142875"/>
          </a:xfrm>
          <a:prstGeom prst="rect">
            <a:avLst/>
          </a:prstGeom>
        </p:spPr>
      </p:pic>
      <p:sp>
        <p:nvSpPr>
          <p:cNvPr id="58" name="Text 50"/>
          <p:cNvSpPr/>
          <p:nvPr/>
        </p:nvSpPr>
        <p:spPr>
          <a:xfrm>
            <a:off x="696516" y="3870127"/>
            <a:ext cx="154305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284C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Ölçeklenebilirlik</a:t>
            </a:r>
            <a:endParaRPr lang="en-US" sz="1050" dirty="0"/>
          </a:p>
        </p:txBody>
      </p:sp>
      <p:sp>
        <p:nvSpPr>
          <p:cNvPr id="59" name="Text 51"/>
          <p:cNvSpPr/>
          <p:nvPr/>
        </p:nvSpPr>
        <p:spPr>
          <a:xfrm>
            <a:off x="571500" y="4216598"/>
            <a:ext cx="167878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katman (frontend, backend, veritabanı) birbirinden bağımsız olarak büyütülebilir.</a:t>
            </a:r>
            <a:endParaRPr lang="en-US" sz="834" dirty="0"/>
          </a:p>
        </p:txBody>
      </p:sp>
      <p:sp>
        <p:nvSpPr>
          <p:cNvPr id="60" name="Shape 52"/>
          <p:cNvSpPr/>
          <p:nvPr/>
        </p:nvSpPr>
        <p:spPr>
          <a:xfrm>
            <a:off x="2536031" y="3727252"/>
            <a:ext cx="1964531" cy="1364456"/>
          </a:xfrm>
          <a:prstGeom prst="rect">
            <a:avLst/>
          </a:prstGeom>
          <a:solidFill>
            <a:srgbClr val="FFFFFF"/>
          </a:solidFill>
          <a:ln w="18288">
            <a:solidFill>
              <a:srgbClr val="18181B"/>
            </a:solidFill>
            <a:prstDash val="solid"/>
          </a:ln>
        </p:spPr>
      </p:sp>
      <p:pic>
        <p:nvPicPr>
          <p:cNvPr id="6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78906" y="3895130"/>
            <a:ext cx="142875" cy="142875"/>
          </a:xfrm>
          <a:prstGeom prst="rect">
            <a:avLst/>
          </a:prstGeom>
        </p:spPr>
      </p:pic>
      <p:sp>
        <p:nvSpPr>
          <p:cNvPr id="62" name="Text 53"/>
          <p:cNvSpPr/>
          <p:nvPr/>
        </p:nvSpPr>
        <p:spPr>
          <a:xfrm>
            <a:off x="2821781" y="3870127"/>
            <a:ext cx="68580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284C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Maliyet</a:t>
            </a:r>
            <a:endParaRPr lang="en-US" sz="1050" dirty="0"/>
          </a:p>
        </p:txBody>
      </p:sp>
      <p:sp>
        <p:nvSpPr>
          <p:cNvPr id="63" name="Text 54"/>
          <p:cNvSpPr/>
          <p:nvPr/>
        </p:nvSpPr>
        <p:spPr>
          <a:xfrm>
            <a:off x="2678906" y="4059436"/>
            <a:ext cx="94297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284C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Verimliliği</a:t>
            </a:r>
            <a:endParaRPr lang="en-US" sz="1050" dirty="0"/>
          </a:p>
        </p:txBody>
      </p:sp>
      <p:sp>
        <p:nvSpPr>
          <p:cNvPr id="64" name="Text 55"/>
          <p:cNvSpPr/>
          <p:nvPr/>
        </p:nvSpPr>
        <p:spPr>
          <a:xfrm>
            <a:off x="2678906" y="4405908"/>
            <a:ext cx="167878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S3 statik hosting, frontend için geleneksel sunucu maliyetini tamamen ortadan kaldırır.</a:t>
            </a:r>
            <a:endParaRPr lang="en-US" sz="834" dirty="0"/>
          </a:p>
        </p:txBody>
      </p:sp>
      <p:sp>
        <p:nvSpPr>
          <p:cNvPr id="65" name="Shape 56"/>
          <p:cNvSpPr/>
          <p:nvPr/>
        </p:nvSpPr>
        <p:spPr>
          <a:xfrm>
            <a:off x="4643438" y="3727252"/>
            <a:ext cx="1964531" cy="1364456"/>
          </a:xfrm>
          <a:prstGeom prst="rect">
            <a:avLst/>
          </a:prstGeom>
          <a:solidFill>
            <a:srgbClr val="FFFFFF"/>
          </a:solidFill>
          <a:ln w="18288">
            <a:solidFill>
              <a:srgbClr val="18181B"/>
            </a:solidFill>
            <a:prstDash val="solid"/>
          </a:ln>
        </p:spPr>
      </p:sp>
      <p:pic>
        <p:nvPicPr>
          <p:cNvPr id="6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86313" y="3895130"/>
            <a:ext cx="142875" cy="142875"/>
          </a:xfrm>
          <a:prstGeom prst="rect">
            <a:avLst/>
          </a:prstGeom>
        </p:spPr>
      </p:pic>
      <p:sp>
        <p:nvSpPr>
          <p:cNvPr id="67" name="Text 57"/>
          <p:cNvSpPr/>
          <p:nvPr/>
        </p:nvSpPr>
        <p:spPr>
          <a:xfrm>
            <a:off x="4929188" y="3870127"/>
            <a:ext cx="60007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284C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Yüksek</a:t>
            </a:r>
            <a:endParaRPr lang="en-US" sz="1050" dirty="0"/>
          </a:p>
        </p:txBody>
      </p:sp>
      <p:sp>
        <p:nvSpPr>
          <p:cNvPr id="68" name="Text 58"/>
          <p:cNvSpPr/>
          <p:nvPr/>
        </p:nvSpPr>
        <p:spPr>
          <a:xfrm>
            <a:off x="4786313" y="4059436"/>
            <a:ext cx="128587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284C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Erişilebilirlik</a:t>
            </a:r>
            <a:endParaRPr lang="en-US" sz="1050" dirty="0"/>
          </a:p>
        </p:txBody>
      </p:sp>
      <p:sp>
        <p:nvSpPr>
          <p:cNvPr id="69" name="Text 59"/>
          <p:cNvSpPr/>
          <p:nvPr/>
        </p:nvSpPr>
        <p:spPr>
          <a:xfrm>
            <a:off x="4786313" y="4405908"/>
            <a:ext cx="167878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MongoDB Atlas ve AWS altyapısı, yüksek SLA garantisi ile kesintisiz hizmet sunar.</a:t>
            </a:r>
            <a:endParaRPr lang="en-US" sz="834" dirty="0"/>
          </a:p>
        </p:txBody>
      </p:sp>
      <p:sp>
        <p:nvSpPr>
          <p:cNvPr id="70" name="Shape 60"/>
          <p:cNvSpPr/>
          <p:nvPr/>
        </p:nvSpPr>
        <p:spPr>
          <a:xfrm>
            <a:off x="6750844" y="3727252"/>
            <a:ext cx="1964531" cy="1335881"/>
          </a:xfrm>
          <a:prstGeom prst="rect">
            <a:avLst/>
          </a:prstGeom>
          <a:solidFill>
            <a:srgbClr val="FFFFFF"/>
          </a:solidFill>
          <a:ln w="18288">
            <a:solidFill>
              <a:srgbClr val="18181B"/>
            </a:solidFill>
            <a:prstDash val="solid"/>
          </a:ln>
        </p:spPr>
      </p:sp>
      <p:pic>
        <p:nvPicPr>
          <p:cNvPr id="7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93719" y="3895130"/>
            <a:ext cx="142875" cy="142875"/>
          </a:xfrm>
          <a:prstGeom prst="rect">
            <a:avLst/>
          </a:prstGeom>
        </p:spPr>
      </p:pic>
      <p:sp>
        <p:nvSpPr>
          <p:cNvPr id="72" name="Text 61"/>
          <p:cNvSpPr/>
          <p:nvPr/>
        </p:nvSpPr>
        <p:spPr>
          <a:xfrm>
            <a:off x="7036594" y="3870127"/>
            <a:ext cx="77152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284C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Güvenlik</a:t>
            </a:r>
            <a:endParaRPr lang="en-US" sz="1050" dirty="0"/>
          </a:p>
        </p:txBody>
      </p:sp>
      <p:sp>
        <p:nvSpPr>
          <p:cNvPr id="73" name="Text 62"/>
          <p:cNvSpPr/>
          <p:nvPr/>
        </p:nvSpPr>
        <p:spPr>
          <a:xfrm>
            <a:off x="6893719" y="4216598"/>
            <a:ext cx="167878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Groups ve Bucket Policy ile her katmanda ayrı ayrı güvenlik sağlanır.</a:t>
            </a:r>
            <a:endParaRPr lang="en-US" sz="83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226939"/>
          </a:xfrm>
          <a:prstGeom prst="rect">
            <a:avLst/>
          </a:prstGeom>
          <a:solidFill>
            <a:srgbClr val="F4F4F5">
              <a:alpha val="9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1212652"/>
            <a:ext cx="9144000" cy="14288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85750"/>
            <a:ext cx="8286750" cy="3018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8181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Öğrenilen Dersler ve Gelecek Adımlar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428625" y="659011"/>
            <a:ext cx="8286750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0284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 proje, modern bulut geliştirme sürecinin temel prensiplerini uygulamalı olarak ortaya koymuştur.</a:t>
            </a:r>
            <a:endParaRPr lang="en-US" sz="1704" dirty="0"/>
          </a:p>
        </p:txBody>
      </p:sp>
      <p:sp>
        <p:nvSpPr>
          <p:cNvPr id="7" name="Shape 4"/>
          <p:cNvSpPr/>
          <p:nvPr/>
        </p:nvSpPr>
        <p:spPr>
          <a:xfrm>
            <a:off x="0" y="1212652"/>
            <a:ext cx="9144000" cy="3345061"/>
          </a:xfrm>
          <a:prstGeom prst="rect">
            <a:avLst/>
          </a:prstGeom>
          <a:solidFill>
            <a:srgbClr val="F4F4F5">
              <a:alpha val="85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0" y="1212652"/>
            <a:ext cx="4156351" cy="3345061"/>
          </a:xfrm>
          <a:prstGeom prst="rect">
            <a:avLst/>
          </a:prstGeom>
          <a:solidFill>
            <a:srgbClr val="16A34A">
              <a:alpha val="5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4142063" y="1212652"/>
            <a:ext cx="14288" cy="3345061"/>
          </a:xfrm>
          <a:prstGeom prst="rect">
            <a:avLst/>
          </a:prstGeom>
          <a:solidFill>
            <a:srgbClr val="18181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386780"/>
            <a:ext cx="250031" cy="2000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2938" y="1355527"/>
            <a:ext cx="2393156" cy="2625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8181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Kazanılan Deneyimler</a:t>
            </a:r>
            <a:endParaRPr lang="en-US" sz="1397" dirty="0"/>
          </a:p>
        </p:txBody>
      </p:sp>
      <p:sp>
        <p:nvSpPr>
          <p:cNvPr id="12" name="Text 8"/>
          <p:cNvSpPr/>
          <p:nvPr/>
        </p:nvSpPr>
        <p:spPr>
          <a:xfrm>
            <a:off x="285750" y="1746647"/>
            <a:ext cx="3656288" cy="685800"/>
          </a:xfrm>
          <a:prstGeom prst="rect">
            <a:avLst/>
          </a:prstGeom>
          <a:noFill/>
          <a:ln/>
        </p:spPr>
        <p:txBody>
          <a:bodyPr wrap="square" lIns="297688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Ortam Yönetimi:</a:t>
            </a:r>
            <a:r>
              <a:rPr lang="en-US" sz="10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Yerel geliştirme (localhost) ile üretim (production) ortamı arasındaki farkları ve geçiş süreçlerini yönetmek.</a:t>
            </a:r>
            <a:endParaRPr lang="en-US" sz="987" dirty="0"/>
          </a:p>
        </p:txBody>
      </p:sp>
      <p:sp>
        <p:nvSpPr>
          <p:cNvPr id="13" name="Text 9"/>
          <p:cNvSpPr/>
          <p:nvPr/>
        </p:nvSpPr>
        <p:spPr>
          <a:xfrm>
            <a:off x="285750" y="2518172"/>
            <a:ext cx="3656288" cy="685800"/>
          </a:xfrm>
          <a:prstGeom prst="rect">
            <a:avLst/>
          </a:prstGeom>
          <a:noFill/>
          <a:ln/>
        </p:spPr>
        <p:txBody>
          <a:bodyPr wrap="square" lIns="297688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Ağ ve Güvenlik:</a:t>
            </a:r>
            <a:r>
              <a:rPr lang="en-US" sz="10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CORS engellerini aşmak, port yönetimini sağlamak ve AWS Security Groups ile güvenliği yapılandırmak.</a:t>
            </a:r>
            <a:endParaRPr lang="en-US" sz="987" dirty="0"/>
          </a:p>
        </p:txBody>
      </p:sp>
      <p:sp>
        <p:nvSpPr>
          <p:cNvPr id="14" name="Text 10"/>
          <p:cNvSpPr/>
          <p:nvPr/>
        </p:nvSpPr>
        <p:spPr>
          <a:xfrm>
            <a:off x="285750" y="3289697"/>
            <a:ext cx="3656288" cy="685800"/>
          </a:xfrm>
          <a:prstGeom prst="rect">
            <a:avLst/>
          </a:prstGeom>
          <a:noFill/>
          <a:ln/>
        </p:spPr>
        <p:txBody>
          <a:bodyPr wrap="square" lIns="297688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Bulut Entegrasyonu:</a:t>
            </a:r>
            <a:r>
              <a:rPr lang="en-US" sz="10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Farklı bulut servislerinin (AWS S3, EC2, MongoDB Atlas) birbiriyle uyumlu ve güvenli bir şekilde çalışmasını sağlamak.</a:t>
            </a:r>
            <a:endParaRPr lang="en-US" sz="987" dirty="0"/>
          </a:p>
        </p:txBody>
      </p:sp>
      <p:sp>
        <p:nvSpPr>
          <p:cNvPr id="15" name="Shape 11"/>
          <p:cNvSpPr/>
          <p:nvPr/>
        </p:nvSpPr>
        <p:spPr>
          <a:xfrm>
            <a:off x="4156351" y="1212652"/>
            <a:ext cx="4987649" cy="3345061"/>
          </a:xfrm>
          <a:prstGeom prst="rect">
            <a:avLst/>
          </a:prstGeom>
          <a:solidFill>
            <a:srgbClr val="0284C7">
              <a:alpha val="5000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285750" y="1775222"/>
            <a:ext cx="7768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942" dirty="0"/>
          </a:p>
        </p:txBody>
      </p:sp>
      <p:sp>
        <p:nvSpPr>
          <p:cNvPr id="17" name="Text 13"/>
          <p:cNvSpPr/>
          <p:nvPr/>
        </p:nvSpPr>
        <p:spPr>
          <a:xfrm>
            <a:off x="285750" y="2546747"/>
            <a:ext cx="7768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942" dirty="0"/>
          </a:p>
        </p:txBody>
      </p:sp>
      <p:sp>
        <p:nvSpPr>
          <p:cNvPr id="18" name="Text 14"/>
          <p:cNvSpPr/>
          <p:nvPr/>
        </p:nvSpPr>
        <p:spPr>
          <a:xfrm>
            <a:off x="285750" y="3318272"/>
            <a:ext cx="7768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942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663" y="1386780"/>
            <a:ext cx="200025" cy="20002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677845" y="1355527"/>
            <a:ext cx="2393156" cy="2625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8181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Olası İyileştirmeler</a:t>
            </a:r>
            <a:endParaRPr lang="en-US" sz="1397" dirty="0"/>
          </a:p>
        </p:txBody>
      </p:sp>
      <p:sp>
        <p:nvSpPr>
          <p:cNvPr id="21" name="Shape 16"/>
          <p:cNvSpPr/>
          <p:nvPr/>
        </p:nvSpPr>
        <p:spPr>
          <a:xfrm>
            <a:off x="4370663" y="1746647"/>
            <a:ext cx="4487587" cy="2393156"/>
          </a:xfrm>
          <a:prstGeom prst="rect">
            <a:avLst/>
          </a:prstGeom>
          <a:solidFill>
            <a:srgbClr val="F4F4F5"/>
          </a:solidFill>
          <a:ln w="18288">
            <a:solidFill>
              <a:srgbClr val="18181B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377807" y="1753791"/>
            <a:ext cx="1922032" cy="507206"/>
          </a:xfrm>
          <a:prstGeom prst="rect">
            <a:avLst/>
          </a:prstGeom>
          <a:solidFill>
            <a:srgbClr val="18181B"/>
          </a:solidFill>
          <a:ln w="18288">
            <a:solidFill>
              <a:srgbClr val="18181B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4377807" y="1753791"/>
            <a:ext cx="1922032" cy="507206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4F4F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Mevcut Durum (Faz 1-4)</a:t>
            </a:r>
            <a:endParaRPr lang="en-US" sz="987" dirty="0"/>
          </a:p>
        </p:txBody>
      </p:sp>
      <p:sp>
        <p:nvSpPr>
          <p:cNvPr id="24" name="Shape 19"/>
          <p:cNvSpPr/>
          <p:nvPr/>
        </p:nvSpPr>
        <p:spPr>
          <a:xfrm>
            <a:off x="6299839" y="1753791"/>
            <a:ext cx="2551268" cy="507206"/>
          </a:xfrm>
          <a:prstGeom prst="rect">
            <a:avLst/>
          </a:prstGeom>
          <a:solidFill>
            <a:srgbClr val="18181B"/>
          </a:solidFill>
          <a:ln w="18288">
            <a:solidFill>
              <a:srgbClr val="18181B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299839" y="1753791"/>
            <a:ext cx="2551268" cy="507206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4F4F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Gelecek İyileştirme (Faz 5+)</a:t>
            </a:r>
            <a:endParaRPr lang="en-US" sz="987" dirty="0"/>
          </a:p>
        </p:txBody>
      </p:sp>
      <p:sp>
        <p:nvSpPr>
          <p:cNvPr id="26" name="Shape 21"/>
          <p:cNvSpPr/>
          <p:nvPr/>
        </p:nvSpPr>
        <p:spPr>
          <a:xfrm>
            <a:off x="4377807" y="2246709"/>
            <a:ext cx="1922032" cy="467916"/>
          </a:xfrm>
          <a:prstGeom prst="rect">
            <a:avLst/>
          </a:prstGeom>
          <a:solidFill>
            <a:srgbClr val="F4F4F5">
              <a:alpha val="50000"/>
            </a:srgbClr>
          </a:solidFill>
          <a:ln w="18288">
            <a:solidFill>
              <a:srgbClr val="18181B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377807" y="2246709"/>
            <a:ext cx="1922032" cy="467916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F3F4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nohup ile süreç yönetimi</a:t>
            </a:r>
            <a:endParaRPr lang="en-US" sz="942" dirty="0"/>
          </a:p>
        </p:txBody>
      </p:sp>
      <p:sp>
        <p:nvSpPr>
          <p:cNvPr id="28" name="Text 23"/>
          <p:cNvSpPr/>
          <p:nvPr/>
        </p:nvSpPr>
        <p:spPr>
          <a:xfrm>
            <a:off x="6299839" y="2246709"/>
            <a:ext cx="2551268" cy="467916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284C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systemd veya Docker ile konteynerizasyon</a:t>
            </a:r>
            <a:endParaRPr lang="en-US" sz="885" dirty="0"/>
          </a:p>
        </p:txBody>
      </p:sp>
      <p:sp>
        <p:nvSpPr>
          <p:cNvPr id="29" name="Shape 24"/>
          <p:cNvSpPr/>
          <p:nvPr/>
        </p:nvSpPr>
        <p:spPr>
          <a:xfrm>
            <a:off x="4377807" y="2714625"/>
            <a:ext cx="1922032" cy="467916"/>
          </a:xfrm>
          <a:prstGeom prst="rect">
            <a:avLst/>
          </a:prstGeom>
          <a:solidFill>
            <a:srgbClr val="F4F4F5">
              <a:alpha val="50000"/>
            </a:srgbClr>
          </a:solidFill>
          <a:ln w="18288">
            <a:solidFill>
              <a:srgbClr val="18181B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4377807" y="2714625"/>
            <a:ext cx="1922032" cy="467916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F3F4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HTTP üzerinden API erişimi</a:t>
            </a:r>
            <a:endParaRPr lang="en-US" sz="942" dirty="0"/>
          </a:p>
        </p:txBody>
      </p:sp>
      <p:sp>
        <p:nvSpPr>
          <p:cNvPr id="31" name="Text 26"/>
          <p:cNvSpPr/>
          <p:nvPr/>
        </p:nvSpPr>
        <p:spPr>
          <a:xfrm>
            <a:off x="6299839" y="2714625"/>
            <a:ext cx="2551268" cy="467916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284C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HTTPS + Alan Adı (Domain) + SSL Sertifikası</a:t>
            </a:r>
            <a:endParaRPr lang="en-US" sz="885" dirty="0"/>
          </a:p>
        </p:txBody>
      </p:sp>
      <p:sp>
        <p:nvSpPr>
          <p:cNvPr id="32" name="Shape 27"/>
          <p:cNvSpPr/>
          <p:nvPr/>
        </p:nvSpPr>
        <p:spPr>
          <a:xfrm>
            <a:off x="4377807" y="3182541"/>
            <a:ext cx="1922032" cy="467916"/>
          </a:xfrm>
          <a:prstGeom prst="rect">
            <a:avLst/>
          </a:prstGeom>
          <a:solidFill>
            <a:srgbClr val="F4F4F5">
              <a:alpha val="50000"/>
            </a:srgbClr>
          </a:solidFill>
          <a:ln w="18288">
            <a:solidFill>
              <a:srgbClr val="18181B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4377807" y="3182541"/>
            <a:ext cx="1922032" cy="467916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F3F4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Manuel deployment (npm run build)</a:t>
            </a:r>
            <a:endParaRPr lang="en-US" sz="942" dirty="0"/>
          </a:p>
        </p:txBody>
      </p:sp>
      <p:sp>
        <p:nvSpPr>
          <p:cNvPr id="34" name="Text 29"/>
          <p:cNvSpPr/>
          <p:nvPr/>
        </p:nvSpPr>
        <p:spPr>
          <a:xfrm>
            <a:off x="6295988" y="3182541"/>
            <a:ext cx="2555118" cy="467916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284C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CI/CD Pipeline (GitHub Actions / GitLab CI)</a:t>
            </a:r>
            <a:endParaRPr lang="en-US" sz="885" dirty="0"/>
          </a:p>
        </p:txBody>
      </p:sp>
      <p:sp>
        <p:nvSpPr>
          <p:cNvPr id="35" name="Shape 30"/>
          <p:cNvSpPr/>
          <p:nvPr/>
        </p:nvSpPr>
        <p:spPr>
          <a:xfrm>
            <a:off x="4377807" y="3650456"/>
            <a:ext cx="1918181" cy="467916"/>
          </a:xfrm>
          <a:prstGeom prst="rect">
            <a:avLst/>
          </a:prstGeom>
          <a:solidFill>
            <a:srgbClr val="F4F4F5">
              <a:alpha val="50000"/>
            </a:srgbClr>
          </a:solidFill>
          <a:ln w="18288">
            <a:solidFill>
              <a:srgbClr val="18181B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4377807" y="3650456"/>
            <a:ext cx="1918181" cy="467916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F3F4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Tek EC2 instance (SPOF)</a:t>
            </a:r>
            <a:endParaRPr lang="en-US" sz="942" dirty="0"/>
          </a:p>
        </p:txBody>
      </p:sp>
      <p:sp>
        <p:nvSpPr>
          <p:cNvPr id="37" name="Text 32"/>
          <p:cNvSpPr/>
          <p:nvPr/>
        </p:nvSpPr>
        <p:spPr>
          <a:xfrm>
            <a:off x="6292137" y="3650456"/>
            <a:ext cx="2558969" cy="467916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284C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Load Balancer + Auto Scaling Group</a:t>
            </a:r>
            <a:endParaRPr lang="en-US" sz="885" dirty="0"/>
          </a:p>
        </p:txBody>
      </p:sp>
      <p:sp>
        <p:nvSpPr>
          <p:cNvPr id="38" name="Shape 33"/>
          <p:cNvSpPr/>
          <p:nvPr/>
        </p:nvSpPr>
        <p:spPr>
          <a:xfrm>
            <a:off x="0" y="4557713"/>
            <a:ext cx="9144000" cy="585788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9" name="Shape 34"/>
          <p:cNvSpPr/>
          <p:nvPr/>
        </p:nvSpPr>
        <p:spPr>
          <a:xfrm>
            <a:off x="0" y="4557713"/>
            <a:ext cx="9144000" cy="14288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40" name="Text 35"/>
          <p:cNvSpPr/>
          <p:nvPr/>
        </p:nvSpPr>
        <p:spPr>
          <a:xfrm>
            <a:off x="428625" y="4714875"/>
            <a:ext cx="82867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F4F4F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Sonuç:</a:t>
            </a:r>
            <a:r>
              <a:rPr lang="en-US" sz="1050" dirty="0">
                <a:solidFill>
                  <a:srgbClr val="F4F4F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Bu dört fazlı yolculuk, sıfırdan başlayan bir projenin gerçek dünya bulut altyapısına </a:t>
            </a:r>
            <a:r>
              <a:rPr lang="en-US" sz="1050" dirty="0">
                <a:solidFill>
                  <a:srgbClr val="F4F4F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nasıl taşınacağını </a:t>
            </a:r>
            <a:r>
              <a:rPr lang="en-US" sz="1050" dirty="0">
                <a:solidFill>
                  <a:srgbClr val="16A34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somut adımlarla</a:t>
            </a:r>
            <a:r>
              <a:rPr lang="en-US" sz="1050" dirty="0">
                <a:solidFill>
                  <a:srgbClr val="F4F4F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göstermektedir.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2026-04-02T14:58:17Z</dcterms:created>
  <dcterms:modified xsi:type="dcterms:W3CDTF">2026-04-02T14:58:17Z</dcterms:modified>
</cp:coreProperties>
</file>